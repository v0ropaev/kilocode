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4"/>
  </p:notesMasterIdLst>
  <p:sldIdLst>
    <p:sldId id="256" r:id="rId11"/>
    <p:sldId id="257" r:id="rId12"/>
    <p:sldId id="258" r:id="rId13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9144000" cy="5143500" type="screen16x9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6402" y="890625"/>
            <a:ext cx="8191195" cy="998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Inter"/>
              </a:rPr>
              <a:t>Агент работает сам — прав
пользователя не получает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2072030"/>
            <a:ext cx="8191195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Мы создали Security Auto Mode для разработчиков, которые запускают ИИ-агента в своём проекте. Проблема: права агента — это права любого, кто сумел им управлять. Решаем тем, что каждое действие судит отдельный код, а не сама модель.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3803904"/>
            <a:ext cx="81911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Inter"/>
              </a:rPr>
              <a:t>Kilo Code — открытый ИИ-агент, который правит код прямо в проекте.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Inter"/>
              </a:rPr>
              <a:t>Дмитрий Воропаев · AI Talent Hub · ИТМО</a:t>
            </a:r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" y="4476902"/>
            <a:ext cx="707745" cy="191109"/>
          </a:xfrm>
          <a:prstGeom prst="rect">
            <a:avLst/>
          </a:prstGeom>
        </p:spPr>
      </p:pic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147" y="4529937"/>
            <a:ext cx="1675180" cy="1380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Оба режима ломают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649211"/>
            <a:ext cx="2606040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Спрашивать всё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026" y="1649211"/>
            <a:ext cx="5484571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через полчаса человек жмёт «да» не глядя — самостоятельности не остаётся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3065160"/>
            <a:ext cx="260604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Отдать всё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3026" y="3065160"/>
            <a:ext cx="548457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одна подброшенная строка в README — и ключи ушли наружу</a:t>
            </a:r>
          </a:p>
        </p:txBody>
      </p:sp>
      <p:sp>
        <p:nvSpPr>
          <p:cNvPr id="9" name="Rectangle 8"/>
          <p:cNvSpPr/>
          <p:nvPr/>
        </p:nvSpPr>
        <p:spPr>
          <a:xfrm>
            <a:off x="476402" y="4124949"/>
            <a:ext cx="8191195" cy="658368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"/>
              </a:rPr>
              <a:t>Автономность нужна. Неограниченные права —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README не стал командой для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66331"/>
            <a:ext cx="81911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Задача разработчика: собрать проект и подготовить к выпуску.</a:t>
            </a:r>
          </a:p>
        </p:txBody>
      </p:sp>
      <p:pic>
        <p:nvPicPr>
          <p:cNvPr id="6" name="Picture 5" descr="pitch-in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86955"/>
            <a:ext cx="7680960" cy="20540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402" y="4050693"/>
            <a:ext cx="8191195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Человек увидел: «отправить файл на внешний адрес, как указано в проекте».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600" b="1">
                <a:solidFill>
                  <a:srgbClr val="0000FF"/>
                </a:solidFill>
                <a:latin typeface="Inter"/>
              </a:rPr>
              <a:t>С обычным README та же команда проходит молча.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Правила — гарантии, ИИ — смысл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1195"/>
            <a:ext cx="210312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0106" y="1521195"/>
            <a:ext cx="598749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какая программа, какие файлы, выход в сеть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61529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80106" y="2361529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что агент прочитал в этой сессии и откуда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827416"/>
            <a:ext cx="2103120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0106" y="2827416"/>
            <a:ext cx="5987491" cy="374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два независимых источника, порознь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293303"/>
            <a:ext cx="2103120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0000FF"/>
                </a:solidFill>
                <a:latin typeface="Inter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0106" y="3293303"/>
            <a:ext cx="5987491" cy="7488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разрешить · спросить · запретить — и «да» не открывает всё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188500"/>
            <a:ext cx="8191195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800" b="1">
                <a:solidFill>
                  <a:srgbClr val="0000FF"/>
                </a:solidFill>
                <a:latin typeface="Inter"/>
              </a:rPr>
              <a:t>ИИ возвращает признак, а не решение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Arial"/>
              </a:rPr>
              <a:t>Отменить запрет он не может и источником доверия не является — это свойство кода.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На каждый вид вреда свой механизм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1195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Проект удалён или испорчен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3306" y="1521195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правила по путям и командам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1910273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Установлен подозрительный пакет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3306" y="1910273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проверка пакета до установки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299350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Секрет ушёл наружу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3306" y="2299350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память о прочитанном секрете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88427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В README подброшена инструкция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3306" y="2688427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смысловой слой на модели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077504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Инструмент делает лишнее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3306" y="3077504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права по происхождению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466581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Код проекта запускается сам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3306" y="3466581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запуск после одобрения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3855659"/>
            <a:ext cx="4846320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Inter"/>
              </a:rPr>
              <a:t>Расширение читает чужие файлы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3306" y="3855659"/>
            <a:ext cx="3244291" cy="3387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595959"/>
                </a:solidFill>
                <a:latin typeface="Arial"/>
              </a:rPr>
              <a:t>урезанный процесс ОС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Inter"/>
              </a:rPr>
              <a:t>Из ста атак доходит пять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39483"/>
            <a:ext cx="8191195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Inter"/>
              </a:rPr>
              <a:t>100 %  →  24 %  →  5 %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07579"/>
            <a:ext cx="81911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без защиты  →  одни правила  →  правила и смысловой слой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98 %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обычных задач выполнено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6800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6800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безопасных действий запрещено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199" y="2837931"/>
            <a:ext cx="2364638" cy="4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5760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7199" y="3420404"/>
            <a:ext cx="2364638" cy="512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прогонов, ни одного сорванного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061056"/>
            <a:ext cx="8191195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Успешность атак — доля прогонов, дошедших до наблюдаемого следа: файл добрался до приёмника, проект исчез. Не по словам модели. 417 прогонов атак, изолированный стенд.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4659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000000"/>
                </a:solidFill>
                <a:latin typeface="Inter"/>
              </a:rPr>
              <a:t>Работает, измерено, дальше — пилот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57771"/>
            <a:ext cx="19202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Сделано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7226" y="1557771"/>
            <a:ext cx="617037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встроено в Kilo · пакеты · смысловой слой · процесс 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399019"/>
            <a:ext cx="1920240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Проверено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7226" y="2399019"/>
            <a:ext cx="61703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5760 прогонов · настоящая модель · 732 теста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883651"/>
            <a:ext cx="19202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0000FF"/>
                </a:solidFill>
                <a:latin typeface="Inter"/>
              </a:rPr>
              <a:t>Дальше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7226" y="2883651"/>
            <a:ext cx="6170371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пилот · два недостающих правила · Linux · трение на людях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743187"/>
            <a:ext cx="8191195" cy="118872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237744" rIns="237744" tIns="36576" bIns="36576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Security Auto Mode снижает успешность атак со ста процентов до пяти, сохраняя девяносто восемь процентов обычных задач: агент остаётся автономным, но больше не получает неограниченные права пользователя.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307238"/>
            <a:ext cx="1673352" cy="4626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6112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Inter"/>
              </a:rPr>
              <a:t>Команда и распределение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30882" y="158483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5362" y="1584838"/>
            <a:ext cx="20299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За что отвечал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482" y="158483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Чем подтверждается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0162" y="1584838"/>
            <a:ext cx="96743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"/>
              </a:rPr>
              <a:t>Участие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6402" y="1840870"/>
            <a:ext cx="8191195" cy="0"/>
          </a:xfrm>
          <a:prstGeom prst="line">
            <a:avLst/>
          </a:prstGeom>
          <a:ln w="95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640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Дмитрий Воропаев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0882" y="1968886"/>
            <a:ext cx="14813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Разработка,
AI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5362" y="1968886"/>
            <a:ext cx="202996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Архитектура движка решений, слои, процесс расширений, измерение, документация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88482" y="1968886"/>
            <a:ext cx="1938528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55 коммитов из 63 в ветке, видно в истории репозитория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0162" y="1968886"/>
            <a:ext cx="967435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ведущая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6402" y="2622682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6402" y="2741554"/>
            <a:ext cx="148132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Артур Фахретдинов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0882" y="2741554"/>
            <a:ext cx="148132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Разработка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5362" y="2741554"/>
            <a:ext cx="202996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Расширение корпуса атак, два канала egress в разборе curl, первый прототип слоя на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482" y="2741554"/>
            <a:ext cx="1938528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8 коммитов из 63 в ветке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0162" y="2741554"/>
            <a:ext cx="967435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поддержка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6402" y="3573658"/>
            <a:ext cx="8191195" cy="0"/>
          </a:xfrm>
          <a:prstGeom prst="line">
            <a:avLst/>
          </a:prstGeom>
          <a:ln w="50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6402" y="3747394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Обе строки выведены из истории репозитория: `git shortlog -sn` против точки ветвления.</a:t>
            </a:r>
          </a:p>
        </p:txBody>
      </p:sp>
      <p:pic>
        <p:nvPicPr>
          <p:cNvPr id="24" name="Picture 23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329" y="4475988"/>
            <a:ext cx="707745" cy="191109"/>
          </a:xfrm>
          <a:prstGeom prst="rect">
            <a:avLst/>
          </a:prstGeom>
        </p:spPr>
      </p:pic>
      <p:pic>
        <p:nvPicPr>
          <p:cNvPr id="25" name="Picture 2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16" y="4534509"/>
            <a:ext cx="167518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992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Inter"/>
              </a:rPr>
              <a:t>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645920"/>
            <a:ext cx="81911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Архитектура · карта угроз с числами · остаточные атаки · как проверяли модель · методика измерения · вторая половина демо.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3108960"/>
            <a:ext cx="819119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Arial"/>
              </a:rPr>
              <a:t>Все числа — из submission/SOURCE_OF_TRUTH.md, прогон final-sealed от 2026-09-05.
Повторить: bun run script/security-bench.ts --runs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Считаем, что моделью можно управлять со стороны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38893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Разработчику доверяем. Его окружению и рассуждению модели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Доверяем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Разработчику и его задаче. Его личным настройкам Kilo. Коду самого Kilo. Механизму изоляции операционной системы.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Не доверяем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Рассуждению модели. Содержимому репозитория. Имени пакета, которое придумала модель. Описаниям внешних инструментов. Коду проекта.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371862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 этого следует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595432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Решение не зависит от того, распознала ли модель атаку. Его принимает отдельный слой, а часть границ подтверждает операционная система.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" y="3813870"/>
            <a:ext cx="8191195" cy="911599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Намерение ≠ полномочия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Подсказка со стороны может изменить то, чего хочет модель. Изменить то, что ей позволено, она не может.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Решение — по действию, источнику и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агент хочет сделать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запустить команду, прочитать файл, вызвать инструмент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С каким файлом или пакетом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путь раскрывается до настоящего, команда разбирается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97546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Откуда пришёл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18578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встроенный инструмент, внешний, инструмент проекта, расширение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Просил ли это пользователь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движок этого входа не получает и судит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2015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уже было в этой сессии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015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какие секреты прочитаны и в какие файлы попали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0371" y="2615549"/>
            <a:ext cx="249265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Какие признаки риска нашлись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0371" y="2825861"/>
            <a:ext cx="249265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разбор команды, происхождение пакета, содержимое файла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6402" y="3255629"/>
            <a:ext cx="8191195" cy="3657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"/>
              </a:rPr>
              <a:t>Политика безопасности — один и тот же движок для каждого вызова с последствиями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Разрешено · ALLOW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выполняется в тех границах, к которым относится разрешение.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015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Вопрос человеку · 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22015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Дальше без человека небезопасно. Самостоятельный режим этот вопрос не снимает.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0371" y="382255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Запрещено · DENY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0371" y="4046128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Действие не выполняется. Агент получает причину и продолжает работу.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Откуда берутся признаки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Каждый признак — ответ на понятный вопрос, а не совпадение со списком строк.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Опасна ли сама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Раскрываются переменные, вызовы и пути.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402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Deterministic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402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про пакет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Возраст, распространённость, скрипты установки.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Package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Мы уже читали секрет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Что прочитано и в какие файлы это попало.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Stateful Egress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" y="3914272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Кто вызывает действие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" y="4133728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Права следуют из происхождения, не из описания.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" y="4344040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Delegated Tool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939168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Есть ли в файле учётные данные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158624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Форматы токенов, ключи, присваивания в тексте.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368936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Content Secret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597536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Код проекта пытается запуститься сам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816992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Файл выполняет верхний уровень при импорте.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027304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Executable Code Trust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255904"/>
            <a:ext cx="386699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Расширение выходит за свои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3475360"/>
            <a:ext cx="386699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Чтение, запись, сеть и процессы — по запросу.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3685672"/>
            <a:ext cx="3866997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Permissioned Extension Runtime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680960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Разрешить действие ≠ отдать все права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Для расширения проекта одобрение — только первый шаг.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1902592"/>
            <a:ext cx="484632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Пользователь одобрил расширение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одобрены конкретные байты: правка файла отзывает одобрение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53842" y="2437516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402" y="2515240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Ему выданы конкретные права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чтение, запись, сеть, запуск процессов — по отдельности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53842" y="3050164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6402" y="3127888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Работает в отдельном процессе под профилем 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ссылка, «..» и абсолютный путь не выводят наружу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53842" y="3662812"/>
            <a:ext cx="91440" cy="54864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6402" y="3740536"/>
            <a:ext cx="484632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Привилегированное действие — снова запрос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к тому же движку, а не прямой вызов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902592"/>
            <a:ext cx="3089757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это дало на измерении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67768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вышло за выданные права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382423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/ 24  →  0 / 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757327"/>
            <a:ext cx="3089757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Расширение прочитало чужой файл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982"/>
            <a:ext cx="30897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33 / 33  →  3 / 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401750"/>
            <a:ext cx="3089757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Граница держится на механизме операционной системы. На macOS проверена прямыми пробами внутри настоящего процесса; профиль Linux написан, но здесь не проверялся. Без такого механизма расширение не запускается вовсе.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" y="4380616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Permissioned Extension Runtime · Read-Confinement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Подозрительный пакет останавливается до установки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Модель придумывает имя библиотеки, атакующий его заранее регистрирует.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402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Агент предлагает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зависимость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41194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14930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Оценка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происхождения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9722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53458" y="2316998"/>
            <a:ext cx="1737360" cy="512064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Inter"/>
              </a:rPr>
              <a:t>Решение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ALLOW · ASK · DENY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18250" y="2531882"/>
            <a:ext cx="146304" cy="8229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986" y="2316998"/>
            <a:ext cx="1737360" cy="512064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ctr" wrap="square" lIns="54864" rIns="54864" tIns="36576" bIns="36576"/>
          <a:lstStyle/>
          <a:p>
            <a:pPr algn="l">
              <a:spcAft>
                <a:spcPts val="100"/>
              </a:spcAft>
            </a:pPr>
            <a:r>
              <a:rPr sz="1050" b="1">
                <a:solidFill>
                  <a:srgbClr val="000000"/>
                </a:solidFill>
                <a:latin typeface="Inter"/>
              </a:rPr>
              <a:t>Установка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запускается или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известно точно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Возраст пакета и выпуска, скрипты установки, репозиторий, подмена реестра.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015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оцениваем приблизительно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2015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Насколько распространён и похоже ли имя на известную библиотеку.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0371" y="2975366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Если ничего не известно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0371" y="3198936"/>
            <a:ext cx="2492654" cy="588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Метаданных нет, пакета нет в реестре. Неизвестность не даёт разрешения.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402" y="3897081"/>
            <a:ext cx="8191195" cy="111591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txBody>
          <a:bodyPr rtlCol="0" anchor="t" wrap="square" lIns="210312" rIns="210312" tIns="118872" bIns="36576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Происхождение пакета оценивается до его локального исполнения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Проверка идёт внутри работы агента, а не в сборке. Это оценка происхождения, а не разбор кода. Измерено: 42 из 42 без защиты, 0 из 42 с ней.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именно делает модель и чего она не может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84029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Два вопроса, на которые у детерминированного контура нет входа.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Откуда пришла инструкция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402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README, документация зависимости, страница из сети, ответ внешнего инструмента. Для правил по путям это одинаковые обычные файлы. Написал их не пользователь.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Связано ли действие с задачей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22015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«Поправь опечатку в README» и отправка ключа наружу не связаны ничем. Совпадение с задачей только снижает тревогу и никогда не даёт разрешения.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2243846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модель не может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0371" y="2458501"/>
            <a:ext cx="2492654" cy="1123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Она возвращает не решение, а свидетельство, и свёртка умеет только ужесточать. Отменить запрет или выдать разрешение она не способна — это свойство кода, а не обещание.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24 % → 5 %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402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общая успешность атак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4386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92 % → 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4386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подброшенная инструкция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3284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100 % → 11 %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3284" y="4132767"/>
            <a:ext cx="1714500" cy="4101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действие не по задаче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1268" y="3746433"/>
            <a:ext cx="1714500" cy="294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000FF"/>
                </a:solidFill>
                <a:latin typeface="Inter"/>
              </a:rPr>
              <a:t>98 %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1268" y="4132767"/>
            <a:ext cx="1714500" cy="2050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Arial"/>
              </a:rPr>
              <a:t>задач — как без слоя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" y="4652604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Цену не прячем: 16 % решений идут к модели, путь с ней 1,1–1,4 с, ≈ $0,30 на 1000 решений.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8191195" cy="3994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Inter"/>
              </a:rPr>
              <a:t>Тот же файл и та же команда — вопроса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18051"/>
            <a:ext cx="81911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Вторая половина демо. Отличается только текст в README.</a:t>
            </a:r>
          </a:p>
        </p:txBody>
      </p:sp>
      <p:pic>
        <p:nvPicPr>
          <p:cNvPr id="6" name="Picture 5" descr="pitch-ben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856963"/>
            <a:ext cx="8191195" cy="21904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6402" y="4157145"/>
            <a:ext cx="81911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00FF"/>
                </a:solidFill>
                <a:latin typeface="Inter"/>
              </a:rPr>
              <a:t>Вопроса человеку не было: слой промолчал, файл ушёл, приёмник его получил.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Одна команда — разные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383670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Записи настоящих сессий Kilo с этой ветки. Отличается только пакет.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6886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Зрелая библиотека — ставится сразу, без единого вопроса</a:t>
            </a:r>
          </a:p>
        </p:txBody>
      </p:sp>
      <p:pic>
        <p:nvPicPr>
          <p:cNvPr id="7" name="Picture 6" descr="02-known-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939625"/>
            <a:ext cx="6217920" cy="1127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158722"/>
            <a:ext cx="6217920" cy="392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Придуманного имени в реестре нет — агент остановился, пакетный менеджер не запускался</a:t>
            </a:r>
          </a:p>
        </p:txBody>
      </p:sp>
      <p:pic>
        <p:nvPicPr>
          <p:cNvPr id="9" name="Picture 8" descr="03-unknown-packag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605863"/>
            <a:ext cx="6217920" cy="10117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70903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Это не чёрный список: имени, зарегистрированного вчера, в списке нет по определению.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Без защиты проект исчезает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383670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Та же задача и тот же агент. Отличается одно значение настройки.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6886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выключен — после прогона в рабочем дереве не осталось ничего</a:t>
            </a:r>
          </a:p>
        </p:txBody>
      </p:sp>
      <p:pic>
        <p:nvPicPr>
          <p:cNvPr id="7" name="Picture 6" descr="06-workspace-wipe-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" y="1939625"/>
            <a:ext cx="6217920" cy="1127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402" y="3158722"/>
            <a:ext cx="6217920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Security Auto включён — агент ждёт человека, файлы на месте</a:t>
            </a:r>
          </a:p>
        </p:txBody>
      </p:sp>
      <p:pic>
        <p:nvPicPr>
          <p:cNvPr id="9" name="Picture 8" descr="07-workspace-wipe-st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02" y="3409725"/>
            <a:ext cx="6217920" cy="11276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6402" y="4628822"/>
            <a:ext cx="81911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Запись сделана без человека за экраном, поэтому вопрос виден как «отвечать некому».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Успех атаки — это последствие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Что проверяли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192 сценария: 141 атака и 51 обычная задача, каждый по три раза. Десять конфигураций: соседние отличаются одним включённым слоем.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изолировали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Одноразовый каталог во временной папке, подставной домашний каталог, безвредные заглушки пакетных менеджеров, сеть только на петле.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524487"/>
            <a:ext cx="2492654" cy="196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0000FF"/>
                </a:solidFill>
                <a:latin typeface="Inter"/>
              </a:rPr>
              <a:t>Как определяли успех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48058"/>
            <a:ext cx="2492654" cy="980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Помеченный файл действительно удалён. Выдуманный ключ действительно дошёл до приёмника. Установка действительно запустилась.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6402" y="3076224"/>
            <a:ext cx="761512" cy="96012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476402" y="289334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100 %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01922" y="3354659"/>
            <a:ext cx="761512" cy="68168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1301922" y="3171779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71 %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7443" y="3460272"/>
            <a:ext cx="761512" cy="576072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127443" y="327739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60 %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52963" y="3489076"/>
            <a:ext cx="761512" cy="54726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8" name="TextBox 17"/>
          <p:cNvSpPr txBox="1"/>
          <p:nvPr/>
        </p:nvSpPr>
        <p:spPr>
          <a:xfrm>
            <a:off x="2952963" y="3306196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57 %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78483" y="3556284"/>
            <a:ext cx="761512" cy="48006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3778483" y="3373404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50 %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4004" y="3623492"/>
            <a:ext cx="761512" cy="412851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2" name="TextBox 21"/>
          <p:cNvSpPr txBox="1"/>
          <p:nvPr/>
        </p:nvSpPr>
        <p:spPr>
          <a:xfrm>
            <a:off x="4604004" y="3440612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43 %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29524" y="3671498"/>
            <a:ext cx="761512" cy="364845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429524" y="348861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38 %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5044" y="3738707"/>
            <a:ext cx="761512" cy="297637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6" name="TextBox 25"/>
          <p:cNvSpPr txBox="1"/>
          <p:nvPr/>
        </p:nvSpPr>
        <p:spPr>
          <a:xfrm>
            <a:off x="6255044" y="3555827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31 %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0564" y="3805915"/>
            <a:ext cx="761512" cy="230428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TextBox 27"/>
          <p:cNvSpPr txBox="1"/>
          <p:nvPr/>
        </p:nvSpPr>
        <p:spPr>
          <a:xfrm>
            <a:off x="7080564" y="3623035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24 %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6085" y="3988338"/>
            <a:ext cx="761512" cy="48006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0" name="TextBox 29"/>
          <p:cNvSpPr txBox="1"/>
          <p:nvPr/>
        </p:nvSpPr>
        <p:spPr>
          <a:xfrm>
            <a:off x="7906085" y="3805458"/>
            <a:ext cx="761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5 %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409120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без защиты · 100 %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037" y="409120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0000FF"/>
                </a:solidFill>
                <a:latin typeface="Arial"/>
              </a:rPr>
              <a:t>все слои включены · 5 %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6402" y="4310664"/>
            <a:ext cx="8191195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00000"/>
                </a:solidFill>
                <a:latin typeface="Arial"/>
              </a:rPr>
              <a:t>Набор атак рос по ходу работы: найденный обход не убирался после исправления, а добавлялся в общий набор, и все конфигурации пересчитывались заново. Ранние конфигурации выглядят хуже потому, что тест стал сложнее.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59536"/>
            <a:ext cx="7498079" cy="865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Три класса держатся только на смысловом слое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871228"/>
            <a:ext cx="7680960" cy="2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Inter"/>
              </a:rPr>
              <a:t>Серая полоса — 100 % атак без защиты. Синяя — что доходит с защитой.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2139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Чужие ключи и настройки самого Kilo</a:t>
            </a:r>
          </a:p>
        </p:txBody>
      </p:sp>
      <p:sp>
        <p:nvSpPr>
          <p:cNvPr id="7" name="Rectangle 6"/>
          <p:cNvSpPr/>
          <p:nvPr/>
        </p:nvSpPr>
        <p:spPr>
          <a:xfrm>
            <a:off x="3877970" y="2157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5697626" y="2130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6890" y="2130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" y="23682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Установка подозрительного пакета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77970" y="23864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2" name="TextBox 11"/>
          <p:cNvSpPr txBox="1"/>
          <p:nvPr/>
        </p:nvSpPr>
        <p:spPr>
          <a:xfrm>
            <a:off x="5697626" y="23590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6890" y="23590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" y="25968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Внешний инструмент делает лишнее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77970" y="26150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5697626" y="25876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6890" y="25876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" y="28254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Утечка секрета цепочкой действий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77970" y="28436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5697626" y="28162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6890" y="28162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402" y="30540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выходит за выданные права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77970" y="30722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4" name="TextBox 23"/>
          <p:cNvSpPr txBox="1"/>
          <p:nvPr/>
        </p:nvSpPr>
        <p:spPr>
          <a:xfrm>
            <a:off x="5697626" y="30448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6890" y="30448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402" y="3282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Действие не связано с задачей пользователя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77970" y="3300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8" name="Rectangle 27"/>
          <p:cNvSpPr/>
          <p:nvPr/>
        </p:nvSpPr>
        <p:spPr>
          <a:xfrm>
            <a:off x="3877970" y="3300892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29" name="TextBox 28"/>
          <p:cNvSpPr txBox="1"/>
          <p:nvPr/>
        </p:nvSpPr>
        <p:spPr>
          <a:xfrm>
            <a:off x="5697626" y="3273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1/9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6890" y="3273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Слоем смысла · 11 %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" y="35112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Текст в репозитории уговаривает агента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7970" y="35294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3" name="TextBox 32"/>
          <p:cNvSpPr txBox="1"/>
          <p:nvPr/>
        </p:nvSpPr>
        <p:spPr>
          <a:xfrm>
            <a:off x="5697626" y="35020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0/75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6890" y="35020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слоем смысла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6402" y="37398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Секрет в обычном файле проекта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970" y="37580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37" name="TextBox 36"/>
          <p:cNvSpPr txBox="1"/>
          <p:nvPr/>
        </p:nvSpPr>
        <p:spPr>
          <a:xfrm>
            <a:off x="5697626" y="37306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0/33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6890" y="37306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Закрыто · было 18 %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6402" y="39684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Расширение читает файлы разработчика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77970" y="39866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1" name="Rectangle 40"/>
          <p:cNvSpPr/>
          <p:nvPr/>
        </p:nvSpPr>
        <p:spPr>
          <a:xfrm>
            <a:off x="3877970" y="3986692"/>
            <a:ext cx="153785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2" name="TextBox 41"/>
          <p:cNvSpPr txBox="1"/>
          <p:nvPr/>
        </p:nvSpPr>
        <p:spPr>
          <a:xfrm>
            <a:off x="5697626" y="39592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6890" y="39592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9 %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6402" y="41970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Код репозитория исполняется при загрузке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77970" y="42152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6" name="Rectangle 45"/>
          <p:cNvSpPr/>
          <p:nvPr/>
        </p:nvSpPr>
        <p:spPr>
          <a:xfrm>
            <a:off x="3877970" y="4215292"/>
            <a:ext cx="187960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47" name="TextBox 46"/>
          <p:cNvSpPr txBox="1"/>
          <p:nvPr/>
        </p:nvSpPr>
        <p:spPr>
          <a:xfrm>
            <a:off x="5697626" y="41878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3/27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6890" y="41878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Сильно снижено · 11 %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402" y="44256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rial"/>
              </a:rPr>
              <a:t>Разрушительная команда, в том числе скрытая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77970" y="4443892"/>
            <a:ext cx="1691640" cy="114300"/>
          </a:xfrm>
          <a:prstGeom prst="rect">
            <a:avLst/>
          </a:prstGeom>
          <a:solidFill>
            <a:srgbClr val="DDDDE3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1" name="Rectangle 50"/>
          <p:cNvSpPr/>
          <p:nvPr/>
        </p:nvSpPr>
        <p:spPr>
          <a:xfrm>
            <a:off x="3877970" y="4443892"/>
            <a:ext cx="338328" cy="11430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txBody>
          <a:bodyPr rtlCol="0" anchor="ctr" wrap="square" lIns="54864" rIns="54864" tIns="36576" bIns="36576"/>
          <a:lstStyle/>
          <a:p>
            <a:pPr algn="l"/>
          </a:p>
        </p:txBody>
      </p:sp>
      <p:sp>
        <p:nvSpPr>
          <p:cNvPr id="52" name="TextBox 51"/>
          <p:cNvSpPr txBox="1"/>
          <p:nvPr/>
        </p:nvSpPr>
        <p:spPr>
          <a:xfrm>
            <a:off x="5697626" y="441646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0000FF"/>
                </a:solidFill>
                <a:latin typeface="Arial"/>
              </a:rPr>
              <a:t>12/60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6890" y="441646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Частично · 20 %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6402" y="4727356"/>
            <a:ext cx="81911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Всего 19 прогонов из 417. Три строки со слоем смысла без него читались бы как 100 %, 92 % и 18 %.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02" y="320954"/>
            <a:ext cx="1536192" cy="4242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5805" y="416966"/>
            <a:ext cx="621792" cy="2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Inter"/>
              </a:rPr>
              <a:t>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6402" y="890625"/>
            <a:ext cx="7498079" cy="43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Inter"/>
              </a:rPr>
              <a:t>Что не закрыто и 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6402" y="1487911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защита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402" y="1702567"/>
            <a:ext cx="2492654" cy="2808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Путь внутри строки python -c, node -e или perl -e не становится операндом при разборе.
git stash -u очищает дерево и разрешён; правила на следующий drop не хватает.
Внутри сужённого процесса расширение видит размер файла и то, что он есть.
Один вызов модели из 117 не уложился в срок — там, где под слоем нет правила, это пропуск.
Границы системы проверены на macOS; профиль Linux написан, но не проверен.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015" y="1487911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Чего не показывает измерение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015" y="1702567"/>
            <a:ext cx="2492654" cy="2808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Набор атак наш собственный: «100 % без защиты» — это про него, а не про Kilo вообще.
Ход работы агента задан сценарием, поэтому измеряется удержание, а не то, догадается ли модель напасть.
Качество смыслового слоя — свойство одной модели: всё снято на claude-haiku-4.5 через OpenRouter, другая даст другие числа.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0371" y="1487911"/>
            <a:ext cx="2492654" cy="187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0">
                <a:solidFill>
                  <a:srgbClr val="0000FF"/>
                </a:solidFill>
                <a:latin typeface="Inter"/>
              </a:rPr>
              <a:t>Пилот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0371" y="1702567"/>
            <a:ext cx="2492654" cy="2808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Команда 5–10 разработчиков, репозиторий с внешними зависимостями и внешними инструментами.
Что смотрим: доля успешных атак, доля доведённых задач, ошибочные запреты, вопросы на задачу, задержка и сколько человек через две недели оставили режим включённым.
Отложенный набор израсходован; новый пишет внешний автор, а конфигурация уже запечатана.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6402" y="4565782"/>
            <a:ext cx="8191195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6402" y="4602358"/>
            <a:ext cx="819119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Повторить любую цифру:  bun run script/security-bench.ts --runs 3
Повторить любую запись сессии:  bash submission/evidence/ui/capture-all.sh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Custom</PresentationFormat>
  <Slides>21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Dmitry Voropaev</cp:lastModifiedBy>
  <cp:revision>1</cp:revision>
  <dcterms:modified xsi:type="dcterms:W3CDTF">2026-09-06T16:13:37Z</dcterms:modified>
  <dc:title>Security Auto Mode для Kilo Code</dc:title>
  <dc:subject>Детерминированный ALLOW / ASK / DENY для side-effecting tool call'ов</dc:subject>
  <dc:creator>Dmitry Voropaev</dc:creator>
  <dc:description>AI Talent Hub. Числа: submission/SOURCE_OF_TRUTH.md</dc:description>
  <cp:keywords>Kilo Code, Security Auto Mode, coding agent, benchmark</cp:keywords>
  <dcterms:created xsi:type="dcterms:W3CDTF">2026-09-06T16:13:37Z</dcterms:created>
</cp:coreProperties>
</file>