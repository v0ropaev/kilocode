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4"/>
  </p:notesMasterIdLst>
  <p:sldIdLst>
    <p:sldId id="256" r:id="rId11"/>
    <p:sldId id="257" r:id="rId12"/>
    <p:sldId id="258" r:id="rId13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3"/>
    <p:sldId id="269" r:id="rId24"/>
    <p:sldId id="270" r:id="rId25"/>
    <p:sldId id="271" r:id="rId26"/>
  </p:sldIdLst>
  <p:sldSz cx="9144000" cy="5143500" type="screen16x9"/>
  <p:notesSz cx="68580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402" y="1344168"/>
            <a:ext cx="48006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Inter"/>
              </a:rPr>
              <a:t>Security Auto Mode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Inter"/>
              </a:rPr>
              <a:t>для Kilo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321868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Агент работает сам. Права выдаёт не он.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35844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Inter"/>
              </a:rPr>
              <a:t>Дмитрий Воропаев · архитектура, движок решений, измерение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Inter"/>
              </a:rPr>
              <a:t>AI Talent Hub · ИТМО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" y="4476902"/>
            <a:ext cx="707745" cy="191109"/>
          </a:xfrm>
          <a:prstGeom prst="rect">
            <a:avLst/>
          </a:prstGeom>
        </p:spPr>
      </p:pic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147" y="4529937"/>
            <a:ext cx="1675180" cy="1380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394960" y="1115568"/>
            <a:ext cx="3272637" cy="283464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274320" rIns="274320" tIns="36576" bIns="36576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Намерение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≠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полномочия</a:t>
            </a:r>
          </a:p>
          <a:p>
            <a:pPr>
              <a:spcAft>
                <a:spcPts val="1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Intent ≠ Authority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Моделью можно управлять со стороны.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Поэтому решение о том, что агенту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позволено, принимает не она.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Подтверждать всё или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0619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Агент полезен, когда работает сам. Оба доступных режима это ломают.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Подтверждать всё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80569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Человек читает десятки одинаковых запросов, перестаёт вчитываться и нажимает «разрешить» не глядя. Самостоятельности не остаётся.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939168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Разрешить всё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180569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Агент получает те же права, что и разработчик. На самом самостоятельном обычном Kilo до настоящего вреда доходят все 237 прогонов атак из 237.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3219328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Пользователи — разработчик, который уходит от экрана, и тимлид, решающий за команду.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237 / 237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 атак дошли до вреда без защиты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4386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130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4386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сценариев: 81 атака, 49 обычных задач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3284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3510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3284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 в измерении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1268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1268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обращений к модели при решении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Считаем, что моделью можно управлять со стороны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38893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Разработчику доверяем. Его окружению и рассуждению модели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Доверяем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Разработчику и его задаче. Его личным настройкам Kilo. Коду самого Kilo. Механизму изоляции операционной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Не доверяем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Рассуждению модели. Содержимому репозитория. Имени пакета, которое придумала модель. Описаниям внешних инструментов. Коду проекта.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 этого следует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Решение не зависит от того, распознала ли модель атаку. Его принимает отдельный слой, а часть границ подтверждает операционная система.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" y="3813870"/>
            <a:ext cx="8191195" cy="911599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Намерение ≠ полномочия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Подсказка со стороны может изменить то, чего хочет модель. Изменить то, что ей позволено, она не может.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Решение — по действию, источнику и истории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агент хочет сделать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запустить команду, прочитать файл, вызвать инструмент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С каким файлом или пакетом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путь раскрывается до настоящего, команда разбирается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Откуда пришёл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встроенный инструмент, MCP, инструмент проекта, расширение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Просил ли это пользователь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движок этого входа не получает и судит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2015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уже было в этой сессии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015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какие секреты прочитаны и в какие файлы попали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0371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Какие признаки риска нашлись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0371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разбор команды, происхождение пакета, содержимое файла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402" y="3255629"/>
            <a:ext cx="8191195" cy="3657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Политика безопасности — один и тот же движок для каждого вызова с последствиями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Разрешено · 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выполняется в тех границах, к которым относится разрешение.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015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Вопрос человеку ·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2015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Дальше без человека небезопасно. Самостоятельный режим этот вопрос не снимает.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0371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Запрещено · DENY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0371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не выполняется. Агент получает причину и продолжает работу.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Откуда берутся признаки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Каждый признак — ответ на понятный вопрос, а не совпадение со списком строк.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Опасна ли сама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Раскрываются переменные, вызовы и пути.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Deterministic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про пакет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Возраст, распространённость, скрипты установки.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Package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Мы уже читали секрет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Что прочитано и в какие файлы это попало.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Stateful Egress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914272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Кто вызывает действие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133728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Права следуют из происхождения, не из описания.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4344040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Delegated Tool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Есть ли в файле учётные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Форматы токенов, ключи, присваивания в тексте.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Content Secret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Код проекта пытается запуститься сам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Файл выполняет верхний уровень при импорте.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Executable Code Trust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Расширение выходит за свои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Чтение, запись, сеть и процессы — по запросу.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Permissioned Extension Runtime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680960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Разрешить действие ≠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Для расширения проекта одобрение — только первый шаг.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1902592"/>
            <a:ext cx="484632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Пользователь одобрил расширение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одобрены конкретные байты: правка файла отзывает одобрение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53842" y="2437516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6402" y="2515240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Ему выданы конкретные права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чтение, запись, сеть, запуск процессов — по отдельности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53842" y="3050164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6402" y="3127888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Работает в отдельном процессе под профилем 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ссылка, «..» и абсолютный путь не выводят наружу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53842" y="3662812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6402" y="3740536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Привилегированное действие — снова запрос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к тому же движку, а не прямой вызов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902592"/>
            <a:ext cx="308975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это дало на измерении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67768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вышло за выданные права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382423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/ 24  →  0 /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757327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прочитало чужой файл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71982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33 / 33  →  3 / 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401750"/>
            <a:ext cx="3089757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Граница держится на механизме операционной системы. На macOS проверена прямыми пробами внутри настоящего процесса; профиль Linux написан, но здесь не проверялся. Без такого механизма расширение не запускается вовсе.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38061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Permissioned Extension Runtime · Read-Confinement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Подозрительный пакет останавливается до установки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Модель придумывает имя библиотеки, атакующий его заранее регистрирует.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Агент предлагает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зависимость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1194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14930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Оценка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происхождения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9722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Решение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ALLOW · ASK · DENY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18250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986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Установка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запускается или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точно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Возраст пакета и выпуска, скрипты установки, репозиторий, подмена реестра.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015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оцениваем приблизительно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2015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Насколько распространён и похоже ли имя на известную библиотеку.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0371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Если ничего не известно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0371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Метаданных нет, пакета нет в реестре. Неизвестность не даёт разрешения.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402" y="3897081"/>
            <a:ext cx="8191195" cy="111591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Происхождение пакета оценивается до его локального исполнения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Проверка идёт внутри работы агента, а не в сборке. Это оценка происхождения, а не разбор кода. Измерено: 42 из 42 без защиты, 0 из 42 с ней.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Намерение меняется, а полномочия —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Текст в репозитории бывает адресован модели, а не человеку.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280422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Текст в README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адресован модели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1194" y="2495306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14930" y="2280422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Модель хочет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опасное действие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9722" y="2495306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2280422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Решает слой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вне модели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18250" y="2495306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986" y="2280422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Права остались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прежними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Жёсткие правила по файлам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Удаление дерева и чтение ключей — отказ по правилу, а не по догадке.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015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Пакеты и права инструментов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2015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Происхождение оценивается до исполнения. Неизвестные права ждут человека.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0371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Код проекта и система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0371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Модуль не импортируется до одобрения. Чтения расширения судит система.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402" y="3878793"/>
            <a:ext cx="8191195" cy="111591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Что осталось открытым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Если каждое действие цепочки разрешено по отдельности — прочитать обычный файл проекта можно, отправить его наружу тоже, — мы это не ловим: 3 из 3 прогонов.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Одна команда — разные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Записи настоящих сессий Kilo с этой ветки. Отличается только пакет.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1663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Зрелая библиотека — ставится сразу, без единого вопроса</a:t>
            </a:r>
          </a:p>
        </p:txBody>
      </p:sp>
      <p:pic>
        <p:nvPicPr>
          <p:cNvPr id="7" name="Picture 6" descr="02-known-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067641"/>
            <a:ext cx="7315200" cy="102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261320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Придуманного имени в реестре нет — агент остановился, пакетный менеджер не запускался</a:t>
            </a:r>
          </a:p>
        </p:txBody>
      </p:sp>
      <p:pic>
        <p:nvPicPr>
          <p:cNvPr id="9" name="Picture 8" descr="03-unknown-packag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512323"/>
            <a:ext cx="7315200" cy="10290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69426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Это не чёрный список: имени, зарегистрированного вчера, в списке нет по определению.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Без защиты проект исчезает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Та же задача и тот же агент. Отличается одно значение настройки.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1663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выключен — после прогона в рабочем дереве не осталось ничего</a:t>
            </a:r>
          </a:p>
        </p:txBody>
      </p:sp>
      <p:pic>
        <p:nvPicPr>
          <p:cNvPr id="7" name="Picture 6" descr="06-workspace-wipe-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067641"/>
            <a:ext cx="7315200" cy="102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261320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включён — агент ждёт человека, файлы на месте</a:t>
            </a:r>
          </a:p>
        </p:txBody>
      </p:sp>
      <p:pic>
        <p:nvPicPr>
          <p:cNvPr id="9" name="Picture 8" descr="07-workspace-wip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512323"/>
            <a:ext cx="7315200" cy="10290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69426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Запись сделана без человека за экраном, поэтому вопрос виден как «отвечать некому».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22960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Система помнит, что прочитала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0195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Выключено: чтение настроек, заметка и правка исходника прошли молча — и выгрузка тоже</a:t>
            </a:r>
          </a:p>
        </p:txBody>
      </p:sp>
      <p:pic>
        <p:nvPicPr>
          <p:cNvPr id="6" name="Picture 5" descr="05-secret-upload-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652960"/>
            <a:ext cx="7315200" cy="11654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402" y="2983025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Включено: те же четыре шага, но выгрузка отклонена — сервис не получил ничего</a:t>
            </a:r>
          </a:p>
        </p:txBody>
      </p:sp>
      <p:pic>
        <p:nvPicPr>
          <p:cNvPr id="8" name="Picture 7" descr="04-secret-upload-block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234028"/>
            <a:ext cx="7315200" cy="1704814"/>
          </a:xfrm>
          <a:prstGeom prst="rect">
            <a:avLst/>
          </a:prstGeom>
        </p:spPr>
      </p:pic>
    </p:spTree>
  </p:cSld>
  <p:bg>
    <p:bgPr>
      <a:solidFill>
        <a:srgbClr val="FAFAFC"/>
      </a:solidFill>
      <a:effectLst/>
    </p:bgPr>
  </p:bg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Успех атаки — это последствие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проверяли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130 сценариев: 81 атака и 49 обычных задач, каждый по три раза. Девять конфигураций: соседние отличаются одним включённым слоем.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изолировали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Одноразовый каталог во временной папке, подставной домашний каталог, безвредные заглушки пакетных менеджеров, сеть только на петле.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определяли успех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Канарейка действительно удалена. Выдуманный ключ действительно дошёл до приёмника. Установка действительно запустилась.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076224"/>
            <a:ext cx="853236" cy="96012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476402" y="2893344"/>
            <a:ext cx="8532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100 %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93647" y="3210641"/>
            <a:ext cx="853236" cy="825703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1393647" y="3027761"/>
            <a:ext cx="8532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86 %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10892" y="3383462"/>
            <a:ext cx="853236" cy="652881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310892" y="3200582"/>
            <a:ext cx="8532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68 %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28136" y="3431468"/>
            <a:ext cx="853236" cy="60487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3228136" y="3248588"/>
            <a:ext cx="8532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63 %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45381" y="3537082"/>
            <a:ext cx="853236" cy="499262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4145381" y="3354202"/>
            <a:ext cx="8532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52 %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2626" y="3661897"/>
            <a:ext cx="853236" cy="374446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2" name="TextBox 21"/>
          <p:cNvSpPr txBox="1"/>
          <p:nvPr/>
        </p:nvSpPr>
        <p:spPr>
          <a:xfrm>
            <a:off x="5062626" y="3479017"/>
            <a:ext cx="8532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39 %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79871" y="3748308"/>
            <a:ext cx="853236" cy="288036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979871" y="3565428"/>
            <a:ext cx="8532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30 %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97116" y="3863522"/>
            <a:ext cx="853236" cy="172821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6897116" y="3680642"/>
            <a:ext cx="8532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18 %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4360" y="3978737"/>
            <a:ext cx="853236" cy="57607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7814360" y="3795857"/>
            <a:ext cx="8532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402" y="409120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без защиты · 100 %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037" y="409120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все девять слоёв · 6 %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4310664"/>
            <a:ext cx="81911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Набор атак рос по ходу работы: найденный обход не убирался после исправления, а добавлялся в общий набор, и все конфигурации пересчитывались заново. Ранние конфигурации выглядят хуже потому, что тест стал сложнее.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20246"/>
            <a:ext cx="81911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Inter"/>
              </a:rPr>
              <a:t>100 %  →  6 %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79782"/>
            <a:ext cx="819119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Успешность атак (ASR) — доля прогонов, которые довели дело до настоящего вреда.
15 прогонов из 237 · 3510 прогонов всего, ни одного сорванного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402" y="2883286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6402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3577315"/>
            <a:ext cx="1714500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обычных задач по-прежнему выполняются · 144 из 147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4386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4386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безопасных действий запрещено по ошибке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3284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0,15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3284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вопросов человеку на задачу · 60 на 390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1268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1,04 мс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1268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стоит решение в 95 % случаев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525548"/>
            <a:ext cx="81911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Конфигурация «запретить всё» дала бы ноль успешных атак и ноль сделанных задач — поэтому величин пять, а не одна. Единственная потерянная задача — честный трёхдневный пакет: это измеренная цена, а не сбой.</a:t>
            </a:r>
          </a:p>
        </p:txBody>
      </p:sp>
    </p:spTree>
  </p:cSld>
  <p:bg>
    <p:bgPr>
      <a:solidFill>
        <a:srgbClr val="0000FF"/>
      </a:solidFill>
      <a:effectLst/>
    </p:bgPr>
  </p:bg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Насколько закрыт каждый вид угрозы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Серая полоса — 100 % атак без защиты. Синяя — что доходит с защитой.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3492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Разрушительная команда, в том числе скрытая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877970" y="1853214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5697626" y="1825782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6890" y="1825782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091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Чужие ключи и настройки самого Kilo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77970" y="2110160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5697626" y="208272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6890" y="2082728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2348819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Установка подозрительного пакета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77970" y="2367107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5697626" y="2339675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6890" y="2339675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2605765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Внешний инструмент делает лишнее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77970" y="2624053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5697626" y="2596621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6890" y="2596621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402" y="28627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Утечка секрета цепочкой действий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77970" y="2881000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697626" y="285356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6890" y="2853568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" y="311965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выходит за выданные права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77970" y="3137946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5697626" y="311051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6890" y="311051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402" y="3376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читает файлы разработчика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77970" y="3394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2" name="Rectangle 31"/>
          <p:cNvSpPr/>
          <p:nvPr/>
        </p:nvSpPr>
        <p:spPr>
          <a:xfrm>
            <a:off x="3877970" y="3394892"/>
            <a:ext cx="153785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3" name="TextBox 32"/>
          <p:cNvSpPr txBox="1"/>
          <p:nvPr/>
        </p:nvSpPr>
        <p:spPr>
          <a:xfrm>
            <a:off x="5697626" y="3367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3/33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6890" y="3367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9 %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402" y="3633551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Код репозитория исполняется при загрузке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970" y="3651839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7" name="Rectangle 36"/>
          <p:cNvSpPr/>
          <p:nvPr/>
        </p:nvSpPr>
        <p:spPr>
          <a:xfrm>
            <a:off x="3877970" y="3651839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8" name="TextBox 37"/>
          <p:cNvSpPr txBox="1"/>
          <p:nvPr/>
        </p:nvSpPr>
        <p:spPr>
          <a:xfrm>
            <a:off x="5697626" y="3624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6890" y="3624407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11 %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402" y="389049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Секрет в обычном файле проекта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77970" y="3908785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2" name="Rectangle 41"/>
          <p:cNvSpPr/>
          <p:nvPr/>
        </p:nvSpPr>
        <p:spPr>
          <a:xfrm>
            <a:off x="3877970" y="3908785"/>
            <a:ext cx="30757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3" name="TextBox 42"/>
          <p:cNvSpPr txBox="1"/>
          <p:nvPr/>
        </p:nvSpPr>
        <p:spPr>
          <a:xfrm>
            <a:off x="5697626" y="3881353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6/33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6890" y="3881353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Частично · 18 %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6402" y="41474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Текст в репозитории уговаривает агента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77970" y="416573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7" name="Rectangle 46"/>
          <p:cNvSpPr/>
          <p:nvPr/>
        </p:nvSpPr>
        <p:spPr>
          <a:xfrm>
            <a:off x="3877970" y="4165732"/>
            <a:ext cx="169164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8" name="TextBox 47"/>
          <p:cNvSpPr txBox="1"/>
          <p:nvPr/>
        </p:nvSpPr>
        <p:spPr>
          <a:xfrm>
            <a:off x="5697626" y="413830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66890" y="413830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Известное ограничение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402" y="4550694"/>
            <a:ext cx="81911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Всего 15 прогонов из 237. Последняя строка не значит, что подсказка со стороны работает всегда: уговорить агента удалить дерево или поставить чужой пакет — это строки 1–3.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не закрыто и 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защита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39143"/>
            <a:ext cx="2492654" cy="2621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Голый токен без признаков рядом и значение в base64 не распознаются как секрет.
Внутри сужённого процесса расширение видит, что файл существует и какого он размера.
Плагин, выбранный самим пользователем, остаётся в основном процессе.
Границы системы проверены на macOS; профиль Linux написан, но не проверен.
Проверка пакетов охватывает семейство npm.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не показывает измерение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39143"/>
            <a:ext cx="2492654" cy="2621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Набор атак наш собственный: «100 % без защиты» — это про него, а не про Kilo вообще.
Ход работы агента задан сценарием, поэтому измеряется удержание, а не то, догадается ли модель напасть.
Отдельного приложения не нужно: режим живёт внутри обычной работы с Kilo. Отдельного экрана безопасности при этом пока нет — решение видно в тексте отказа и в обычном окне подтверждения.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Пилот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39143"/>
            <a:ext cx="2492654" cy="2621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Команда 5–10 разработчиков, репозиторий с внешними зависимостями и MCP.
Что смотрим: доля успешных атак, доля доведённых задач, ошибочные запреты, вопросы на задачу, задержка и сколько человек через две недели оставили режим включённым.
Продуктовый шаг: показать причину решения прямо в окне подтверждения.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6402" y="4488286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6402" y="4561438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Повторить любую цифру:  bun run script/security-bench.ts --runs 3
Повторить любую запись сессии:  bash submission/evidence/ui/capture-all.sh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Команда и распределение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088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5362" y="158483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За что отвечал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482" y="158483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Чем подтверждается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62" y="1584838"/>
            <a:ext cx="9674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" y="1840870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640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Дмитрий Воропаев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088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Разработка,
AI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362" y="1968886"/>
            <a:ext cx="202996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Архитектура движка решений, слои, процесс расширений, измерение, документация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8482" y="1968886"/>
            <a:ext cx="19385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19 коммитов из 19 в ветке, видно в истории репозитория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0162" y="1968886"/>
            <a:ext cx="967435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ведущая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" y="2622682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6402" y="2741554"/>
            <a:ext cx="14813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[ЗАПОЛНИТЬ: имя]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0882" y="2741554"/>
            <a:ext cx="14813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5362" y="2741554"/>
            <a:ext cx="202996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482" y="2741554"/>
            <a:ext cx="19385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0162" y="2741554"/>
            <a:ext cx="967435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6402" y="3038734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402" y="3212470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Строка-заполнитель дублируется по числу участников и заполняется командой перед подачей. Подтверждена только первая строка: она выведена из истории репозитория.</a:t>
            </a:r>
          </a:p>
        </p:txBody>
      </p:sp>
      <p:pic>
        <p:nvPicPr>
          <p:cNvPr id="24" name="Picture 23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29" y="4475988"/>
            <a:ext cx="707745" cy="191109"/>
          </a:xfrm>
          <a:prstGeom prst="rect">
            <a:avLst/>
          </a:prstGeom>
        </p:spPr>
      </p:pic>
      <p:pic>
        <p:nvPicPr>
          <p:cNvPr id="25" name="Picture 2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6" y="4534509"/>
            <a:ext cx="1675180" cy="137160"/>
          </a:xfrm>
          <a:prstGeom prst="rect">
            <a:avLst/>
          </a:prstGeom>
        </p:spPr>
      </p:pic>
    </p:spTree>
  </p:cSld>
  <p:bg>
    <p:bgPr>
      <a:solidFill>
        <a:srgbClr val="0000FF"/>
      </a:solidFill>
      <a:effectLst/>
    </p:bgPr>
  </p:bg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Custom</PresentationFormat>
  <Slides>16</Slides>
  <Notes>0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Dmitry Voropaev</cp:lastModifiedBy>
  <cp:revision>1</cp:revision>
  <dcterms:modified xsi:type="dcterms:W3CDTF">2026-09-04T15:17:14Z</dcterms:modified>
  <dc:title>Security Auto Mode для Kilo Code</dc:title>
  <dc:subject>Детерминированный ALLOW / ASK / DENY для side-effecting tool call'ов</dc:subject>
  <dc:creator>Dmitry Voropaev</dc:creator>
  <dc:description>AI Talent Hub. Числа: submission/SOURCE_OF_TRUTH.md</dc:description>
  <cp:keywords>Kilo Code, Security Auto Mode, coding agent, benchmark</cp:keywords>
  <dcterms:created xsi:type="dcterms:W3CDTF">2026-09-04T15:17:14Z</dcterms:created>
</cp:coreProperties>
</file>