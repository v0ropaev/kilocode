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14"/>
  </p:notesMasterIdLst>
  <p:sldIdLst>
    <p:sldId id="256" r:id="rId11"/>
    <p:sldId id="257" r:id="rId12"/>
    <p:sldId id="258" r:id="rId13"/>
    <p:sldId id="259" r:id="rId10"/>
    <p:sldId id="260" r:id="rId9"/>
    <p:sldId id="261" r:id="rId8"/>
    <p:sldId id="262" r:id="rId7"/>
    <p:sldId id="263" r:id="rId6"/>
    <p:sldId id="264" r:id="rId5"/>
    <p:sldId id="265" r:id="rId4"/>
    <p:sldId id="266" r:id="rId3"/>
    <p:sldId id="267" r:id="rId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</p:sldIdLst>
  <p:sldSz cx="9144000" cy="5143500" type="screen16x9"/>
  <p:notesSz cx="6858000" cy="9144000"/>
  <p:embeddedFontLst>
    <p:embeddedFont>
      <p:font typeface="Inter" panose="02000503000000020004" pitchFamily="2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>
      <p:cViewPr varScale="1">
        <p:scale>
          <a:sx n="160" d="100"/>
          <a:sy n="160" d="100"/>
        </p:scale>
        <p:origin x="784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2.xml"/><Relationship Id="rId3" Type="http://schemas.openxmlformats.org/officeDocument/2006/relationships/slide" Target="slides/slide11.xml"/><Relationship Id="rId4" Type="http://schemas.openxmlformats.org/officeDocument/2006/relationships/slide" Target="slides/slide10.xml"/><Relationship Id="rId5" Type="http://schemas.openxmlformats.org/officeDocument/2006/relationships/slide" Target="slides/slide9.xml"/><Relationship Id="rId6" Type="http://schemas.openxmlformats.org/officeDocument/2006/relationships/slide" Target="slides/slide8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notesMaster" Target="notesMasters/notesMaster1.xml"/><Relationship Id="rId15" Type="http://schemas.openxmlformats.org/officeDocument/2006/relationships/font" Target="fonts/font1.fntdata"/><Relationship Id="rId16" Type="http://schemas.openxmlformats.org/officeDocument/2006/relationships/font" Target="fonts/font2.fntdata"/><Relationship Id="rId17" Type="http://schemas.openxmlformats.org/officeDocument/2006/relationships/font" Target="fonts/font3.fntdata"/><Relationship Id="rId18" Type="http://schemas.openxmlformats.org/officeDocument/2006/relationships/font" Target="fonts/font4.fntdata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 1">
  <p:cSld name="Титульный слайд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4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4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5" name="Google Shape;55;p14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76402" y="890625"/>
            <a:ext cx="8191195" cy="9985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3000" b="1">
                <a:solidFill>
                  <a:srgbClr val="000000"/>
                </a:solidFill>
                <a:latin typeface="Inter"/>
              </a:rPr>
              <a:t>Агент работает сам — прав
пользователя не получает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2072030"/>
            <a:ext cx="8191195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900" b="0">
                <a:solidFill>
                  <a:srgbClr val="000000"/>
                </a:solidFill>
                <a:latin typeface="Arial"/>
              </a:rPr>
              <a:t>Мы создали Security Auto Mode для разработчиков, которые запускают ИИ-агента в своём проекте. Проблема: права агента — это права любого, кто сумел им управлять. Решаем тем, что каждое действие судит отдельный код, а не сама модель.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3803904"/>
            <a:ext cx="81911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Inter"/>
              </a:rPr>
              <a:t>Kilo Code — открытый ИИ-агент, который правит код прямо в проекте.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Inter"/>
              </a:rPr>
              <a:t>Дмитрий Воропаев · AI Talent Hub · ИТМО</a:t>
            </a:r>
          </a:p>
        </p:txBody>
      </p:sp>
      <p:pic>
        <p:nvPicPr>
          <p:cNvPr id="6" name="Picture 5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74" y="4476902"/>
            <a:ext cx="707745" cy="191109"/>
          </a:xfrm>
          <a:prstGeom prst="rect">
            <a:avLst/>
          </a:prstGeom>
        </p:spPr>
      </p:pic>
      <p:pic>
        <p:nvPicPr>
          <p:cNvPr id="7" name="Picture 6" descr="imag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2147" y="4529937"/>
            <a:ext cx="1675180" cy="13807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8191195" cy="4659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Inter"/>
              </a:rPr>
              <a:t>Оба режима ломают агента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649211"/>
            <a:ext cx="2606040" cy="1123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100" b="1">
                <a:solidFill>
                  <a:srgbClr val="0000FF"/>
                </a:solidFill>
                <a:latin typeface="Inter"/>
              </a:rPr>
              <a:t>Спрашивать всё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83026" y="1649211"/>
            <a:ext cx="5484571" cy="1123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Arial"/>
              </a:rPr>
              <a:t>через полчаса человек жмёт «да» не глядя — самостоятельности не остаётся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3065160"/>
            <a:ext cx="2606040" cy="7488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100" b="1">
                <a:solidFill>
                  <a:srgbClr val="0000FF"/>
                </a:solidFill>
                <a:latin typeface="Inter"/>
              </a:rPr>
              <a:t>Отдать всё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83026" y="3065160"/>
            <a:ext cx="5484571" cy="7488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Arial"/>
              </a:rPr>
              <a:t>одна подброшенная строка в README — и ключи ушли наружу</a:t>
            </a:r>
          </a:p>
        </p:txBody>
      </p:sp>
      <p:sp>
        <p:nvSpPr>
          <p:cNvPr id="9" name="Rectangle 8"/>
          <p:cNvSpPr/>
          <p:nvPr/>
        </p:nvSpPr>
        <p:spPr>
          <a:xfrm>
            <a:off x="476402" y="4124949"/>
            <a:ext cx="8191195" cy="658368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Inter"/>
              </a:rPr>
              <a:t>Автономность нужна. Неограниченные права — нет.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8191195" cy="4659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Inter"/>
              </a:rPr>
              <a:t>README не стал командой для агента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66331"/>
            <a:ext cx="81911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Задача разработчика: собрать проект и подготовить к выпуску.</a:t>
            </a:r>
          </a:p>
        </p:txBody>
      </p:sp>
      <p:pic>
        <p:nvPicPr>
          <p:cNvPr id="6" name="Picture 5" descr="pitch-inje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886955"/>
            <a:ext cx="7680960" cy="20540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6402" y="4050693"/>
            <a:ext cx="8191195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Человек увидел: «отправить файл на внешний адрес, как указано в проекте».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600" b="1">
                <a:solidFill>
                  <a:srgbClr val="0000FF"/>
                </a:solidFill>
                <a:latin typeface="Inter"/>
              </a:rPr>
              <a:t>С обычным README та же команда проходит молча.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8191195" cy="4659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Inter"/>
              </a:rPr>
              <a:t>Правила — гарантии, ИИ — смысл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21195"/>
            <a:ext cx="2103120" cy="7488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100" b="1">
                <a:solidFill>
                  <a:srgbClr val="0000FF"/>
                </a:solidFill>
                <a:latin typeface="Inter"/>
              </a:rPr>
              <a:t>Действие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0106" y="1521195"/>
            <a:ext cx="5987491" cy="7488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Arial"/>
              </a:rPr>
              <a:t>какая программа, какие файлы, выход в сеть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361529"/>
            <a:ext cx="2103120" cy="374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100" b="1">
                <a:solidFill>
                  <a:srgbClr val="0000FF"/>
                </a:solidFill>
                <a:latin typeface="Inter"/>
              </a:rPr>
              <a:t>Контекст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80106" y="2361529"/>
            <a:ext cx="5987491" cy="374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Arial"/>
              </a:rPr>
              <a:t>что агент прочитал в этой сессии и откуда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402" y="2827416"/>
            <a:ext cx="2103120" cy="374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100" b="1">
                <a:solidFill>
                  <a:srgbClr val="0000FF"/>
                </a:solidFill>
                <a:latin typeface="Inter"/>
              </a:rPr>
              <a:t>Признаки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80106" y="2827416"/>
            <a:ext cx="5987491" cy="374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Arial"/>
              </a:rPr>
              <a:t>два независимых источника, порознь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" y="3293303"/>
            <a:ext cx="2103120" cy="374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100" b="1">
                <a:solidFill>
                  <a:srgbClr val="0000FF"/>
                </a:solidFill>
                <a:latin typeface="Inter"/>
              </a:rPr>
              <a:t>Решение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80106" y="3293303"/>
            <a:ext cx="5987491" cy="374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Arial"/>
              </a:rPr>
              <a:t>разрешить · спросить человека · запретить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402" y="3814053"/>
            <a:ext cx="819119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700" b="1">
                <a:solidFill>
                  <a:srgbClr val="0000FF"/>
                </a:solidFill>
                <a:latin typeface="Inter"/>
              </a:rPr>
              <a:t>ИИ возвращает признак, а не решение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Отменить запрет он не может и источником доверия не является — это свойство кода.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300" b="0">
                <a:solidFill>
                  <a:srgbClr val="595959"/>
                </a:solidFill>
                <a:latin typeface="Arial"/>
              </a:rPr>
              <a:t>Смысловой слой — Claude Haiku 4.5 через OpenRouter. Компактная модель, выбрана нарочно: проверяли принцип, а не мощность.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8191195" cy="4659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Inter"/>
              </a:rPr>
              <a:t>На каждый вид вреда свой механизм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02907"/>
            <a:ext cx="4846320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900" b="1">
                <a:solidFill>
                  <a:srgbClr val="000000"/>
                </a:solidFill>
                <a:latin typeface="Inter"/>
              </a:rPr>
              <a:t>Проект удалён или испорчен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23306" y="1502907"/>
            <a:ext cx="3244291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595959"/>
                </a:solidFill>
                <a:latin typeface="Arial"/>
              </a:rPr>
              <a:t>правила по путям и командам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1869125"/>
            <a:ext cx="4846320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900" b="1">
                <a:solidFill>
                  <a:srgbClr val="000000"/>
                </a:solidFill>
                <a:latin typeface="Inter"/>
              </a:rPr>
              <a:t>Установлен подозрительный пакет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23306" y="1869125"/>
            <a:ext cx="3244291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595959"/>
                </a:solidFill>
                <a:latin typeface="Arial"/>
              </a:rPr>
              <a:t>происхождение до установки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402" y="2235342"/>
            <a:ext cx="4846320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900" b="1">
                <a:solidFill>
                  <a:srgbClr val="000000"/>
                </a:solidFill>
                <a:latin typeface="Inter"/>
              </a:rPr>
              <a:t>Секрет ушёл наружу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23306" y="2235342"/>
            <a:ext cx="3244291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595959"/>
                </a:solidFill>
                <a:latin typeface="Arial"/>
              </a:rPr>
              <a:t>память о прочитанном секрете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" y="2601559"/>
            <a:ext cx="4846320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900" b="1">
                <a:solidFill>
                  <a:srgbClr val="000000"/>
                </a:solidFill>
                <a:latin typeface="Inter"/>
              </a:rPr>
              <a:t>В README подброшена инструкция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23306" y="2601559"/>
            <a:ext cx="3244291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595959"/>
                </a:solidFill>
                <a:latin typeface="Arial"/>
              </a:rPr>
              <a:t>смысловой слой на модели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402" y="2967776"/>
            <a:ext cx="4846320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900" b="1">
                <a:solidFill>
                  <a:srgbClr val="000000"/>
                </a:solidFill>
                <a:latin typeface="Inter"/>
              </a:rPr>
              <a:t>Инструмент делает лишнее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23306" y="2967776"/>
            <a:ext cx="3244291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595959"/>
                </a:solidFill>
                <a:latin typeface="Arial"/>
              </a:rPr>
              <a:t>права по происхождению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402" y="3333993"/>
            <a:ext cx="4846320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900" b="1">
                <a:solidFill>
                  <a:srgbClr val="000000"/>
                </a:solidFill>
                <a:latin typeface="Inter"/>
              </a:rPr>
              <a:t>Код проекта запускается сам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3306" y="3333993"/>
            <a:ext cx="3244291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595959"/>
                </a:solidFill>
                <a:latin typeface="Arial"/>
              </a:rPr>
              <a:t>запуск после одобрения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02" y="3700211"/>
            <a:ext cx="4846320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900" b="1">
                <a:solidFill>
                  <a:srgbClr val="000000"/>
                </a:solidFill>
                <a:latin typeface="Inter"/>
              </a:rPr>
              <a:t>Расширение читает чужие файлы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23306" y="3700211"/>
            <a:ext cx="3244291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595959"/>
                </a:solidFill>
                <a:latin typeface="Arial"/>
              </a:rPr>
              <a:t>урезанный процесс ОС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402" y="4148724"/>
            <a:ext cx="819119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300" b="0">
                <a:solidFill>
                  <a:srgbClr val="000000"/>
                </a:solidFill>
                <a:latin typeface="Arial"/>
              </a:rPr>
              <a:t>До установки проверяем существование, возраст, распространённость, репозиторий и install-скрипты — код пакета ещё не запускался.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300" b="1">
                <a:solidFill>
                  <a:srgbClr val="0000FF"/>
                </a:solidFill>
                <a:latin typeface="Inter"/>
              </a:rPr>
              <a:t>slopsquatting: агент выдумывает имя, атакующий его регистрирует · 42 из 42 → 0 из 42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307238"/>
            <a:ext cx="1673352" cy="46268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8191195" cy="4659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Inter"/>
              </a:rPr>
              <a:t>Из ста атак доходит пять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39483"/>
            <a:ext cx="8191195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Inter"/>
              </a:rPr>
              <a:t>100 %  →  24 %  →  5 %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307579"/>
            <a:ext cx="819119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без защиты  →  одни правила  →  правила и смысловой слой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837931"/>
            <a:ext cx="2364638" cy="4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Inter"/>
              </a:rPr>
              <a:t>98 %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6402" y="3420404"/>
            <a:ext cx="2364638" cy="5126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обычных задач выполнено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6800" y="2837931"/>
            <a:ext cx="2364638" cy="4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Inter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6800" y="3420404"/>
            <a:ext cx="2364638" cy="5126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безопасных действий запрещено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37199" y="2837931"/>
            <a:ext cx="2364638" cy="4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Inter"/>
              </a:rPr>
              <a:t>5760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37199" y="3420404"/>
            <a:ext cx="2364638" cy="5126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прогонов, ни одного сорванного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402" y="4061056"/>
            <a:ext cx="8191195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Успешность атак — доля прогонов, дошедших до наблюдаемого следа: файл добрался до приёмника, проект исчез. Не по словам модели. 417 прогонов атак, изолированный стенд.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8191195" cy="4659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Inter"/>
              </a:rPr>
              <a:t>Работает, измерено, дальше — пилот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39483"/>
            <a:ext cx="1920240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000" b="1">
                <a:solidFill>
                  <a:srgbClr val="0000FF"/>
                </a:solidFill>
                <a:latin typeface="Inter"/>
              </a:rPr>
              <a:t>Сделано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7226" y="1539483"/>
            <a:ext cx="6170371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Arial"/>
              </a:rPr>
              <a:t>встроено в Kilo · пакеты · смысловой слой · процесс ОС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362443"/>
            <a:ext cx="1920240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000" b="1">
                <a:solidFill>
                  <a:srgbClr val="0000FF"/>
                </a:solidFill>
                <a:latin typeface="Inter"/>
              </a:rPr>
              <a:t>Проверено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97226" y="2362443"/>
            <a:ext cx="617037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Arial"/>
              </a:rPr>
              <a:t>5760 прогонов · модель · 757 тестов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402" y="2828787"/>
            <a:ext cx="1920240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000" b="1">
                <a:solidFill>
                  <a:srgbClr val="0000FF"/>
                </a:solidFill>
                <a:latin typeface="Inter"/>
              </a:rPr>
              <a:t>Дальше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97226" y="2828787"/>
            <a:ext cx="6170371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Arial"/>
              </a:rPr>
              <a:t>пилот · два недостающих правила · трение на людях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6402" y="3670035"/>
            <a:ext cx="8191195" cy="118872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237744" rIns="237744" tIns="36576" bIns="36576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Security Auto Mode снижает успешность атак со ста процентов до пяти, сохраняя девяносто восемь процентов обычных задач: агент остаётся автономным, но больше не получает неограниченные права пользователя.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307238"/>
            <a:ext cx="1673352" cy="46268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6112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Inter"/>
              </a:rPr>
              <a:t>Команда и распределение задач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84838"/>
            <a:ext cx="14813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Участник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30882" y="1584838"/>
            <a:ext cx="14813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Роль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85362" y="1584838"/>
            <a:ext cx="2029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За что отвечал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88482" y="1584838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Чем подтверждается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0162" y="1584838"/>
            <a:ext cx="96743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Участие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76402" y="1840870"/>
            <a:ext cx="8191195" cy="0"/>
          </a:xfrm>
          <a:prstGeom prst="line">
            <a:avLst/>
          </a:prstGeom>
          <a:ln w="95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76402" y="1968886"/>
            <a:ext cx="1481328" cy="5081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Arial"/>
              </a:rPr>
              <a:t>Дмитрий Воропаев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30882" y="1968886"/>
            <a:ext cx="1481328" cy="5081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Arial"/>
              </a:rPr>
              <a:t>Разработка,
AI Product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5362" y="1968886"/>
            <a:ext cx="2029968" cy="5081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Arial"/>
              </a:rPr>
              <a:t>Архитектура движка решений, слои, процесс расширений, измерение, документация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88482" y="1968886"/>
            <a:ext cx="1938528" cy="5081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Arial"/>
              </a:rPr>
              <a:t>77 коммитов из 95 в ветке, видно в истории репозитория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0162" y="1968886"/>
            <a:ext cx="967435" cy="5081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Arial"/>
              </a:rPr>
              <a:t>ведущая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76402" y="2559359"/>
            <a:ext cx="8191195" cy="0"/>
          </a:xfrm>
          <a:prstGeom prst="line">
            <a:avLst/>
          </a:prstGeom>
          <a:ln w="50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76402" y="2641655"/>
            <a:ext cx="1481328" cy="6775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Arial"/>
              </a:rPr>
              <a:t>Артур Фахретдинов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30882" y="2641655"/>
            <a:ext cx="1481328" cy="6775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Arial"/>
              </a:rPr>
              <a:t>Разработка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5362" y="2641655"/>
            <a:ext cx="2029968" cy="6775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Arial"/>
              </a:rPr>
              <a:t>Расширение корпуса атак, два канала egress в разборе curl, первый прототип слоя на модели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88482" y="2641655"/>
            <a:ext cx="1938528" cy="6775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Arial"/>
              </a:rPr>
              <a:t>8 коммитов из 95 в ветке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0162" y="2641655"/>
            <a:ext cx="967435" cy="6775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Arial"/>
              </a:rPr>
              <a:t>поддержка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76402" y="3401522"/>
            <a:ext cx="8191195" cy="0"/>
          </a:xfrm>
          <a:prstGeom prst="line">
            <a:avLst/>
          </a:prstGeom>
          <a:ln w="50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76402" y="3483818"/>
            <a:ext cx="1481328" cy="6775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Arial"/>
              </a:rPr>
              <a:t>Дмитрий Комаров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30882" y="3483818"/>
            <a:ext cx="1481328" cy="6775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Arial"/>
              </a:rPr>
              <a:t>Разработка,
AI Product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85362" y="3483818"/>
            <a:ext cx="2029968" cy="6775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Arial"/>
              </a:rPr>
              <a:t>Постановка задачи и приёмка, переносимость на Linux, MCP-ресурсы, пайплайн записей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88482" y="3483818"/>
            <a:ext cx="1938528" cy="6775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Arial"/>
              </a:rPr>
              <a:t>10 коммитов из 95 в ветке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00162" y="3483818"/>
            <a:ext cx="967435" cy="6775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Arial"/>
              </a:rPr>
              <a:t>поддержка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6402" y="4243684"/>
            <a:ext cx="8191195" cy="0"/>
          </a:xfrm>
          <a:prstGeom prst="line">
            <a:avLst/>
          </a:prstGeom>
          <a:ln w="50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76402" y="4261104"/>
            <a:ext cx="81911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Arial"/>
              </a:rPr>
              <a:t>Все строки выведены из истории репозитория: `git shortlog -sn` против точки ветвления.</a:t>
            </a:r>
          </a:p>
        </p:txBody>
      </p:sp>
      <p:pic>
        <p:nvPicPr>
          <p:cNvPr id="30" name="Picture 29" descr="imag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0329" y="4475988"/>
            <a:ext cx="707745" cy="191109"/>
          </a:xfrm>
          <a:prstGeom prst="rect">
            <a:avLst/>
          </a:prstGeom>
        </p:spPr>
      </p:pic>
      <p:pic>
        <p:nvPicPr>
          <p:cNvPr id="31" name="Picture 30" descr="image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2416" y="4534509"/>
            <a:ext cx="1675180" cy="1371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992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3000" b="1">
                <a:solidFill>
                  <a:srgbClr val="000000"/>
                </a:solidFill>
                <a:latin typeface="Inter"/>
              </a:rPr>
              <a:t>Приложение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645920"/>
            <a:ext cx="819119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Arial"/>
              </a:rPr>
              <a:t>Архитектура · карта угроз с числами · остаточные атаки · как проверяли модель · методика измерения · вторая половина демо.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3108960"/>
            <a:ext cx="819119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95959"/>
                </a:solidFill>
                <a:latin typeface="Arial"/>
              </a:rPr>
              <a:t>Все числа — из submission/SOURCE_OF_TRUTH.md, прогон final-sealed от 2026-09-05.
Повторить: bun run script/security-bench.ts --runs 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865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Считаем, что моделью можно управлять со стороны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938893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Разработчику доверяем. Его окружению и рассуждению модели — нет.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371862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Доверяем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595432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Разработчику и его задаче. Его личным настройкам Kilo. Коду самого Kilo. Механизму изоляции операционной системы.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2371862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Не доверяем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22015" y="2595432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Рассуждению модели. Содержимому репозитория. Имени пакета, которое придумала модель. Описаниям внешних инструментов. Коду проекта.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2371862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из этого следует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0371" y="2595432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Решение не зависит от того, распознала ли модель атаку. Его принимает отдельный слой, а часть границ подтверждает операционная система.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6402" y="3813870"/>
            <a:ext cx="8191195" cy="911599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t" wrap="square" lIns="210312" rIns="210312" tIns="118872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Намерение ≠ полномочия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Подсказка со стороны может изменить то, чего хочет модель. Изменить то, что ей позволено, она не может.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865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Решение — по действию, источнику и истории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97546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агент хочет сделать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18578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запустить команду, прочитать файл, вызвать инструмент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22015" y="197546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С каким файлом или пакетом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218578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путь раскрывается до настоящего, команда разбирается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0371" y="197546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Откуда пришёл вызов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218578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встроенный инструмент, внешний, инструмент проекта, расширение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" y="261554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Просил ли это пользователь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" y="282586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движок этого входа не получает и судит одинаково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22015" y="261554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уже было в этой сессии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22015" y="282586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какие секреты прочитаны и в какие файлы попали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0371" y="261554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Какие признаки риска нашлись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0371" y="282586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разбор команды, происхождение пакета, содержимое файла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6402" y="3255629"/>
            <a:ext cx="8191195" cy="36576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"/>
              </a:rPr>
              <a:t>Политика безопасности — один и тот же движок для каждого вызова с последствиями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02" y="382255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Разрешено · ALLOW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402" y="4046128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Действие выполняется в тех границах, к которым относится разрешение.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22015" y="382255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Вопрос человеку · ASK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22015" y="4046128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Дальше без человека небезопасно. Самостоятельный режим этот вопрос не снимает.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0371" y="382255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Запрещено · DENY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0371" y="4046128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Действие не выполняется. Агент получает причину и продолжает работу.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Откуда берутся признаки риска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87911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Каждый признак — ответ на понятный вопрос, а не совпадение со списком строк.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939168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Опасна ли сама команда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158624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Раскрываются переменные, вызовы и пути.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6402" y="2368936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Deterministic 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402" y="2597536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известно про пакет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" y="2816992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Возраст, распространённость, скрипты установки.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" y="3027304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Package Security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" y="3255904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Мы уже читали секрет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402" y="3475360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Что прочитано и в какие файлы это попало.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" y="3685672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Stateful Egress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402" y="3914272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Кто вызывает действие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402" y="4133728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Права следуют из происхождения, не из описания.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02" y="4344040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Delegated Tool 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1939168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Есть ли в файле учётные данные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2158624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Форматы токенов, ключи, присваивания в тексте.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2368936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Content Secret Detection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2597536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Код проекта пытается запуститься сам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2816992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Файл выполняет верхний уровень при импорте.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3027304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Executable Code Trust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3255904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Расширение выходит за свои права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0600" y="3475360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Чтение, запись, сеть и процессы — по запросу.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3685672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Permissioned Extension Runtime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680960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Разрешить действие ≠ отдать все права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87911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Для расширения проекта одобрение — только первый шаг.</a:t>
            </a:r>
          </a:p>
        </p:txBody>
      </p:sp>
      <p:sp>
        <p:nvSpPr>
          <p:cNvPr id="6" name="Rectangle 5"/>
          <p:cNvSpPr/>
          <p:nvPr/>
        </p:nvSpPr>
        <p:spPr>
          <a:xfrm>
            <a:off x="476402" y="1902592"/>
            <a:ext cx="4846320" cy="512064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FFFFFF"/>
                </a:solidFill>
                <a:latin typeface="Inter"/>
              </a:rPr>
              <a:t>Пользователь одобрил расширение</a:t>
            </a:r>
          </a:p>
          <a:p>
            <a:pPr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одобрены конкретные байты: правка файла отзывает одобрение</a:t>
            </a:r>
          </a:p>
        </p:txBody>
      </p:sp>
      <p:sp>
        <p:nvSpPr>
          <p:cNvPr id="7" name="Down Arrow 6"/>
          <p:cNvSpPr/>
          <p:nvPr/>
        </p:nvSpPr>
        <p:spPr>
          <a:xfrm>
            <a:off x="2853842" y="2437516"/>
            <a:ext cx="91440" cy="54864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76402" y="2515240"/>
            <a:ext cx="484632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Ему выданы конкретные права</a:t>
            </a:r>
          </a:p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чтение, запись, сеть, запуск процессов — по отдельности</a:t>
            </a:r>
          </a:p>
        </p:txBody>
      </p:sp>
      <p:sp>
        <p:nvSpPr>
          <p:cNvPr id="9" name="Down Arrow 8"/>
          <p:cNvSpPr/>
          <p:nvPr/>
        </p:nvSpPr>
        <p:spPr>
          <a:xfrm>
            <a:off x="2853842" y="3050164"/>
            <a:ext cx="91440" cy="54864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6402" y="3127888"/>
            <a:ext cx="484632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Работает в отдельном процессе под профилем ОС</a:t>
            </a:r>
          </a:p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ссылка, «..» и абсолютный путь не выводят наружу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853842" y="3662812"/>
            <a:ext cx="91440" cy="54864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6402" y="3740536"/>
            <a:ext cx="484632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Привилегированное действие — снова запрос</a:t>
            </a:r>
          </a:p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к тому же движку, а не прямой вызов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1902592"/>
            <a:ext cx="308975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это дало на измерении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2167768"/>
            <a:ext cx="3089757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Расширение вышло за выданные права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0" y="2382423"/>
            <a:ext cx="308975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0000FF"/>
                </a:solidFill>
                <a:latin typeface="Inter"/>
              </a:rPr>
              <a:t>24 / 24  →  0 / 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2757327"/>
            <a:ext cx="3089757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Расширение прочитало чужой файл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2971982"/>
            <a:ext cx="308975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0000FF"/>
                </a:solidFill>
                <a:latin typeface="Inter"/>
              </a:rPr>
              <a:t>33 / 33  →  3 / 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3401750"/>
            <a:ext cx="3089757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Граница держится на механизме операционной системы. Проверена прямыми пробами внутри настоящего процесса на macOS и на Linux. Без такого механизма расширение не запускается вовсе.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402" y="4380616"/>
            <a:ext cx="4846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Permissioned Extension Runtime · Read-Confinement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865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Подозрительный пакет останавливается до установки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884029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Модель придумывает имя библиотеки, атакующий его заранее регистрирует.</a:t>
            </a:r>
          </a:p>
        </p:txBody>
      </p:sp>
      <p:sp>
        <p:nvSpPr>
          <p:cNvPr id="6" name="Rectangle 5"/>
          <p:cNvSpPr/>
          <p:nvPr/>
        </p:nvSpPr>
        <p:spPr>
          <a:xfrm>
            <a:off x="476402" y="2316998"/>
            <a:ext cx="173736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Агент предлагает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зависимость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241194" y="2531882"/>
            <a:ext cx="146304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414930" y="2316998"/>
            <a:ext cx="1737360" cy="512064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FFFFFF"/>
                </a:solidFill>
                <a:latin typeface="Inter"/>
              </a:rPr>
              <a:t>Оценка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происхождения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79722" y="2531882"/>
            <a:ext cx="146304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3458" y="2316998"/>
            <a:ext cx="1737360" cy="512064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FFFFFF"/>
                </a:solidFill>
                <a:latin typeface="Inter"/>
              </a:rPr>
              <a:t>Решение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ALLOW · ASK · DENY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118250" y="2531882"/>
            <a:ext cx="146304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91986" y="2316998"/>
            <a:ext cx="173736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Установка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запускается или нет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402" y="2975366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известно точно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" y="3198936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Возраст пакета и выпуска, скрипты установки, репозиторий, подмена реестра.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22015" y="2975366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оцениваем приблизительно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22015" y="3198936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Насколько распространён и похоже ли имя на известную библиотеку.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0371" y="2975366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Если ничего не известно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0371" y="3198936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Метаданных нет, пакета нет в реестре. Неизвестность не даёт разрешения.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6402" y="3897081"/>
            <a:ext cx="8191195" cy="111591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t" wrap="square" lIns="210312" rIns="210312" tIns="118872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Происхождение пакета оценивается до его локального исполнения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Проверка идёт внутри работы агента, а не в сборке. Это оценка происхождения, а не разбор кода. Измерено: 42 из 42 без защиты, 0 из 42 с ней.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865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Что именно делает модель и чего она не может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884029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Два вопроса, на которые у детерминированного контура нет входа.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243846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Откуда пришла инструкция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458501"/>
            <a:ext cx="2492654" cy="1123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README, документация зависимости, страница из сети, ответ внешнего инструмента. Для правил по путям это одинаковые обычные файлы. Написал их не пользователь.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2243846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Связано ли действие с задачей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22015" y="2458501"/>
            <a:ext cx="2492654" cy="1123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«Поправь опечатку в README» и отправка ключа наружу не связаны ничем. Совпадение с задачей только снижает тревогу и никогда не даёт разрешения.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2243846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Чего модель не может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0371" y="2458501"/>
            <a:ext cx="2492654" cy="1123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Она возвращает не решение, а свидетельство, и свёртка умеет только ужесточать. Отменить запрет или выдать разрешение она не способна — это свойство кода, а не обещание.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" y="3746433"/>
            <a:ext cx="171450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0000FF"/>
                </a:solidFill>
                <a:latin typeface="Inter"/>
              </a:rPr>
              <a:t>24 % → 5 %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402" y="4132767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общая успешность атак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34386" y="3746433"/>
            <a:ext cx="171450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0000FF"/>
                </a:solidFill>
                <a:latin typeface="Inter"/>
              </a:rPr>
              <a:t>92 % → 0 %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34386" y="4132767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подброшенная инструкция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3284" y="3746433"/>
            <a:ext cx="171450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0000FF"/>
                </a:solidFill>
                <a:latin typeface="Inter"/>
              </a:rPr>
              <a:t>100 % → 11 %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3284" y="4132767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действие не по задаче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51268" y="3746433"/>
            <a:ext cx="171450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0000FF"/>
                </a:solidFill>
                <a:latin typeface="Inter"/>
              </a:rPr>
              <a:t>98 %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51268" y="4132767"/>
            <a:ext cx="1714500" cy="2050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задач — как без слоя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402" y="4652604"/>
            <a:ext cx="81911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Цену не прячем: 16 % решений идут к модели, путь с ней 1,1–1,4 с, ≈ $0,30 на 1000 решений.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8191195" cy="3994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000000"/>
                </a:solidFill>
                <a:latin typeface="Inter"/>
              </a:rPr>
              <a:t>Тот же файл и та же команда — вопроса нет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18051"/>
            <a:ext cx="819119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Вторая половина демо. Отличается только текст в README.</a:t>
            </a:r>
          </a:p>
        </p:txBody>
      </p:sp>
      <p:pic>
        <p:nvPicPr>
          <p:cNvPr id="6" name="Picture 5" descr="pitch-ben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402" y="1856963"/>
            <a:ext cx="8191195" cy="21904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6402" y="4157145"/>
            <a:ext cx="81911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00FF"/>
                </a:solidFill>
                <a:latin typeface="Inter"/>
              </a:rPr>
              <a:t>Вопроса человеку не было: слой промолчал, файл ушёл, приёмник его получил.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59536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Одна команда — разные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383670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Записи настоящих сессий Kilo с этой ветки. Отличается только пакет.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688622"/>
            <a:ext cx="6217920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Зрелая библиотека — ставится сразу, без единого вопроса</a:t>
            </a:r>
          </a:p>
        </p:txBody>
      </p:sp>
      <p:pic>
        <p:nvPicPr>
          <p:cNvPr id="7" name="Picture 6" descr="02-known-pack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402" y="1939625"/>
            <a:ext cx="6217920" cy="112765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6402" y="3158722"/>
            <a:ext cx="6217920" cy="3922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Придуманного имени в реестре нет — агент остановился, пакетный менеджер не запускался</a:t>
            </a:r>
          </a:p>
        </p:txBody>
      </p:sp>
      <p:pic>
        <p:nvPicPr>
          <p:cNvPr id="9" name="Picture 8" descr="03-unknown-package-stopp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402" y="3605863"/>
            <a:ext cx="6217920" cy="101172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6402" y="4709032"/>
            <a:ext cx="81911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Это не чёрный список: имени, зарегистрированного вчера, в списке нет по определению.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59536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Без защиты проект исчезает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383670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Та же задача и тот же агент. Отличается одно значение настройки.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688622"/>
            <a:ext cx="6217920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Security Auto выключен — после прогона в рабочем дереве не осталось ничего</a:t>
            </a:r>
          </a:p>
        </p:txBody>
      </p:sp>
      <p:pic>
        <p:nvPicPr>
          <p:cNvPr id="7" name="Picture 6" descr="06-workspace-wipe-bas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402" y="1939625"/>
            <a:ext cx="6217920" cy="112765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6402" y="3158722"/>
            <a:ext cx="6217920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Security Auto включён — агент ждёт человека, файлы на месте</a:t>
            </a:r>
          </a:p>
        </p:txBody>
      </p:sp>
      <p:pic>
        <p:nvPicPr>
          <p:cNvPr id="9" name="Picture 8" descr="07-workspace-wipe-stopp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402" y="3409725"/>
            <a:ext cx="6217920" cy="11276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6402" y="4628822"/>
            <a:ext cx="81911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Запись сделана без человека за экраном, поэтому вопрос виден как «отвечать некому».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Успех атаки — это последствие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2448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проверяли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748058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192 сценария: 141 атака и 51 обычная задача, каждый по три раза. Десять конфигураций: соседние отличаются одним включённым слоем.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22015" y="152448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Как изолировали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1748058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Одноразовый каталог во временной папке, подставной домашний каталог, безвредные заглушки пакетных менеджеров, сеть только на петле.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0371" y="152448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Как определяли успех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1748058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Помеченный файл действительно удалён. Выдуманный ключ действительно дошёл до приёмника. Установка действительно запустилась.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6402" y="3076224"/>
            <a:ext cx="761512" cy="96012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2" name="TextBox 11"/>
          <p:cNvSpPr txBox="1"/>
          <p:nvPr/>
        </p:nvSpPr>
        <p:spPr>
          <a:xfrm>
            <a:off x="476402" y="2893344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100 %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01922" y="3354659"/>
            <a:ext cx="761512" cy="681685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1301922" y="3171779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71 %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27443" y="3460272"/>
            <a:ext cx="761512" cy="576072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6" name="TextBox 15"/>
          <p:cNvSpPr txBox="1"/>
          <p:nvPr/>
        </p:nvSpPr>
        <p:spPr>
          <a:xfrm>
            <a:off x="2127443" y="3277392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60 %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52963" y="3489076"/>
            <a:ext cx="761512" cy="547268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8" name="TextBox 17"/>
          <p:cNvSpPr txBox="1"/>
          <p:nvPr/>
        </p:nvSpPr>
        <p:spPr>
          <a:xfrm>
            <a:off x="2952963" y="3306196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57 %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78483" y="3556284"/>
            <a:ext cx="761512" cy="48006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0" name="TextBox 19"/>
          <p:cNvSpPr txBox="1"/>
          <p:nvPr/>
        </p:nvSpPr>
        <p:spPr>
          <a:xfrm>
            <a:off x="3778483" y="3373404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50 %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04004" y="3623492"/>
            <a:ext cx="761512" cy="412851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2" name="TextBox 21"/>
          <p:cNvSpPr txBox="1"/>
          <p:nvPr/>
        </p:nvSpPr>
        <p:spPr>
          <a:xfrm>
            <a:off x="4604004" y="3440612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43 %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29524" y="3671498"/>
            <a:ext cx="761512" cy="364845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4" name="TextBox 23"/>
          <p:cNvSpPr txBox="1"/>
          <p:nvPr/>
        </p:nvSpPr>
        <p:spPr>
          <a:xfrm>
            <a:off x="5429524" y="3488618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38 %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55044" y="3738707"/>
            <a:ext cx="761512" cy="297637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6" name="TextBox 25"/>
          <p:cNvSpPr txBox="1"/>
          <p:nvPr/>
        </p:nvSpPr>
        <p:spPr>
          <a:xfrm>
            <a:off x="6255044" y="3555827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31 %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80564" y="3805915"/>
            <a:ext cx="761512" cy="230428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8" name="TextBox 27"/>
          <p:cNvSpPr txBox="1"/>
          <p:nvPr/>
        </p:nvSpPr>
        <p:spPr>
          <a:xfrm>
            <a:off x="7080564" y="3623035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24 %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06085" y="3988338"/>
            <a:ext cx="761512" cy="48006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30" name="TextBox 29"/>
          <p:cNvSpPr txBox="1"/>
          <p:nvPr/>
        </p:nvSpPr>
        <p:spPr>
          <a:xfrm>
            <a:off x="7906085" y="3805458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0000FF"/>
                </a:solidFill>
                <a:latin typeface="Arial"/>
              </a:rPr>
              <a:t>5 %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6402" y="4091208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без защиты · 100 %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3037" y="4091208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0000FF"/>
                </a:solidFill>
                <a:latin typeface="Arial"/>
              </a:rPr>
              <a:t>все слои включены · 5 %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6402" y="4310664"/>
            <a:ext cx="81911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Набор атак рос по ходу работы: найденный обход не убирался после исправления, а добавлялся в общий набор, и все конфигурации пересчитывались заново. Ранние конфигурации выглядят хуже потому, что тест стал сложнее.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59536"/>
            <a:ext cx="7498079" cy="865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Три класса держатся только на смысловом слое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871228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Серая полоса — 100 % атак без защиты. Синяя — что доходит с защитой.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1396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Чужие ключи и настройки самого Kilo</a:t>
            </a:r>
          </a:p>
        </p:txBody>
      </p:sp>
      <p:sp>
        <p:nvSpPr>
          <p:cNvPr id="7" name="Rectangle 6"/>
          <p:cNvSpPr/>
          <p:nvPr/>
        </p:nvSpPr>
        <p:spPr>
          <a:xfrm>
            <a:off x="3877970" y="21578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8" name="TextBox 7"/>
          <p:cNvSpPr txBox="1"/>
          <p:nvPr/>
        </p:nvSpPr>
        <p:spPr>
          <a:xfrm>
            <a:off x="5697626" y="21304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6890" y="21304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" y="23682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Установка подозрительного пакета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77970" y="23864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2" name="TextBox 11"/>
          <p:cNvSpPr txBox="1"/>
          <p:nvPr/>
        </p:nvSpPr>
        <p:spPr>
          <a:xfrm>
            <a:off x="5697626" y="23590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6890" y="23590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" y="25968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Внешний инструмент делает лишнее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77970" y="26150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6" name="TextBox 15"/>
          <p:cNvSpPr txBox="1"/>
          <p:nvPr/>
        </p:nvSpPr>
        <p:spPr>
          <a:xfrm>
            <a:off x="5697626" y="25876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6890" y="25876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02" y="28254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Утечка секрета цепочкой действий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77970" y="28436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0" name="TextBox 19"/>
          <p:cNvSpPr txBox="1"/>
          <p:nvPr/>
        </p:nvSpPr>
        <p:spPr>
          <a:xfrm>
            <a:off x="5697626" y="28162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6890" y="28162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402" y="30540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Расширение выходит за выданные права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77970" y="30722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4" name="TextBox 23"/>
          <p:cNvSpPr txBox="1"/>
          <p:nvPr/>
        </p:nvSpPr>
        <p:spPr>
          <a:xfrm>
            <a:off x="5697626" y="30448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6890" y="30448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6402" y="32826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Действие не связано с задачей пользователя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77970" y="33008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8" name="Rectangle 27"/>
          <p:cNvSpPr/>
          <p:nvPr/>
        </p:nvSpPr>
        <p:spPr>
          <a:xfrm>
            <a:off x="3877970" y="3300892"/>
            <a:ext cx="187960" cy="11430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9" name="TextBox 28"/>
          <p:cNvSpPr txBox="1"/>
          <p:nvPr/>
        </p:nvSpPr>
        <p:spPr>
          <a:xfrm>
            <a:off x="5697626" y="32734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FF"/>
                </a:solidFill>
                <a:latin typeface="Arial"/>
              </a:rPr>
              <a:t>1/9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66890" y="32734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Слоем смысла · 11 %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6402" y="35112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Текст в репозитории уговаривает агента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77970" y="35294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33" name="TextBox 32"/>
          <p:cNvSpPr txBox="1"/>
          <p:nvPr/>
        </p:nvSpPr>
        <p:spPr>
          <a:xfrm>
            <a:off x="5697626" y="35020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0/75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66890" y="35020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 · слоем смысла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6402" y="37398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Секрет в обычном файле проекта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77970" y="37580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37" name="TextBox 36"/>
          <p:cNvSpPr txBox="1"/>
          <p:nvPr/>
        </p:nvSpPr>
        <p:spPr>
          <a:xfrm>
            <a:off x="5697626" y="37306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0/33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66890" y="37306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 · было 18 %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6402" y="39684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Расширение читает файлы разработчика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77970" y="39866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41" name="Rectangle 40"/>
          <p:cNvSpPr/>
          <p:nvPr/>
        </p:nvSpPr>
        <p:spPr>
          <a:xfrm>
            <a:off x="3877970" y="3986692"/>
            <a:ext cx="153785" cy="11430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42" name="TextBox 41"/>
          <p:cNvSpPr txBox="1"/>
          <p:nvPr/>
        </p:nvSpPr>
        <p:spPr>
          <a:xfrm>
            <a:off x="5697626" y="39592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FF"/>
                </a:solidFill>
                <a:latin typeface="Arial"/>
              </a:rPr>
              <a:t>3/33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66890" y="39592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Сильно снижено · 9 %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6402" y="41970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Код репозитория исполняется при загрузке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77970" y="42152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46" name="Rectangle 45"/>
          <p:cNvSpPr/>
          <p:nvPr/>
        </p:nvSpPr>
        <p:spPr>
          <a:xfrm>
            <a:off x="3877970" y="4215292"/>
            <a:ext cx="187960" cy="11430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47" name="TextBox 46"/>
          <p:cNvSpPr txBox="1"/>
          <p:nvPr/>
        </p:nvSpPr>
        <p:spPr>
          <a:xfrm>
            <a:off x="5697626" y="41878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FF"/>
                </a:solidFill>
                <a:latin typeface="Arial"/>
              </a:rPr>
              <a:t>3/27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66890" y="41878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Сильно снижено · 11 %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6402" y="44256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Разрушительная команда, в том числе скрытая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77970" y="44438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51" name="Rectangle 50"/>
          <p:cNvSpPr/>
          <p:nvPr/>
        </p:nvSpPr>
        <p:spPr>
          <a:xfrm>
            <a:off x="3877970" y="4443892"/>
            <a:ext cx="338328" cy="11430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52" name="TextBox 51"/>
          <p:cNvSpPr txBox="1"/>
          <p:nvPr/>
        </p:nvSpPr>
        <p:spPr>
          <a:xfrm>
            <a:off x="5697626" y="44164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FF"/>
                </a:solidFill>
                <a:latin typeface="Arial"/>
              </a:rPr>
              <a:t>12/60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66890" y="44164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Частично · 20 %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6402" y="4727356"/>
            <a:ext cx="81911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Всего 19 прогонов из 417. Три строки со слоем смысла без него читались бы как 100 %, 92 % и 18 %.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Что не закрыто и что дальше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51335"/>
            <a:ext cx="249265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FF"/>
                </a:solidFill>
                <a:latin typeface="Inter"/>
              </a:rPr>
              <a:t>Чего защита не умеет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663476"/>
            <a:ext cx="2492654" cy="28529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Путь внутри строки python -c, node -e или perl -e не становится операндом при разборе.
git stash -u очищает дерево и разрешён; правила на следующий drop не хватает.
Внутри сужённого процесса расширение видит размер файла и то, что он есть.
Один вызов модели из 117 не уложился в срок — там, где под слоем нет правила, это пропуск.
Границы проверены на macOS и Linux. На Linux содержимое домашнего каталога закрыто, но имена каталогов на пути привязок видны.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22015" y="1451335"/>
            <a:ext cx="249265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FF"/>
                </a:solidFill>
                <a:latin typeface="Inter"/>
              </a:rPr>
              <a:t>Чего не показывает измерение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1663476"/>
            <a:ext cx="2492654" cy="28529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Набор атак наш собственный: «100 % без защиты» — это про него, а не про Kilo вообще.
Ход работы агента задан сценарием, поэтому измеряется удержание, а не то, догадается ли модель напасть.
Качество смыслового слоя — свойство одной модели: всё снято на claude-haiku-4.5 через OpenRouter, другая даст другие числа.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0371" y="1451335"/>
            <a:ext cx="249265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FF"/>
                </a:solidFill>
                <a:latin typeface="Inter"/>
              </a:rPr>
              <a:t>Пилот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1663476"/>
            <a:ext cx="2492654" cy="28529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Команда 5–10 разработчиков, репозиторий с внешними зависимостями и внешними инструментами.
Что смотрим: доля успешных атак, доля доведённых задач, ошибочные запреты, вопросы на задачу, задержка и сколько человек через две недели оставили режим включённым.
Отложенный набор израсходован; новый пишет внешний автор, а конфигурация уже запечатана.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76402" y="4571268"/>
            <a:ext cx="8191195" cy="0"/>
          </a:xfrm>
          <a:prstGeom prst="line">
            <a:avLst/>
          </a:prstGeom>
          <a:ln w="952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76402" y="4607844"/>
            <a:ext cx="819119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Повторить любую цифру:  bun run script/security-bench.ts --runs 3
Повторить любую запись сессии:  bash submission/evidence/ui/capture-all.sh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000000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Application>python-pptx</Application>
  <PresentationFormat>Custom</PresentationFormat>
  <Slides>21</Slides>
  <Notes>0</Notes>
  <HiddenSlides>0</HiddenSlides>
  <MMClips>0</MMClip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Dmitry Voropaev</cp:lastModifiedBy>
  <cp:revision>1</cp:revision>
  <dcterms:modified xsi:type="dcterms:W3CDTF">2026-09-06T23:28:16Z</dcterms:modified>
  <dc:title>Security Auto Mode для Kilo Code</dc:title>
  <dc:subject>Детерминированный ALLOW / ASK / DENY для side-effecting tool call'ов</dc:subject>
  <dc:creator>Dmitry Voropaev</dc:creator>
  <dc:description>AI Talent Hub. Числа: submission/SOURCE_OF_TRUTH.md</dc:description>
  <cp:keywords>Kilo Code, Security Auto Mode, coding agent, benchmark</cp:keywords>
  <dcterms:created xsi:type="dcterms:W3CDTF">2026-09-06T23:28:16Z</dcterms:created>
</cp:coreProperties>
</file>