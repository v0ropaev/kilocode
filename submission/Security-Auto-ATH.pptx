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1"/>
  </p:sldMasterIdLst>
  <p:notesMasterIdLst>
    <p:notesMasterId r:id="rId14"/>
  </p:notesMasterIdLst>
  <p:sldIdLst>
    <p:sldId id="256" r:id="rId11"/>
    <p:sldId id="257" r:id="rId12"/>
    <p:sldId id="258" r:id="rId13"/>
    <p:sldId id="259" r:id="rId10"/>
    <p:sldId id="260" r:id="rId9"/>
    <p:sldId id="261" r:id="rId8"/>
    <p:sldId id="262" r:id="rId7"/>
    <p:sldId id="263" r:id="rId6"/>
    <p:sldId id="264" r:id="rId5"/>
    <p:sldId id="265" r:id="rId4"/>
    <p:sldId id="266" r:id="rId3"/>
    <p:sldId id="267" r:id="rId2"/>
    <p:sldId id="268" r:id="rId23"/>
    <p:sldId id="269" r:id="rId24"/>
    <p:sldId id="270" r:id="rId25"/>
    <p:sldId id="271" r:id="rId26"/>
  </p:sldIdLst>
  <p:sldSz cx="9144000" cy="5143500" type="screen16x9"/>
  <p:notesSz cx="6858000" cy="9144000"/>
  <p:embeddedFontLst>
    <p:embeddedFont>
      <p:font typeface="Inter" panose="02000503000000020004" pitchFamily="2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>
      <p:cViewPr varScale="1">
        <p:scale>
          <a:sx n="160" d="100"/>
          <a:sy n="160" d="100"/>
        </p:scale>
        <p:origin x="784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2.xml"/><Relationship Id="rId3" Type="http://schemas.openxmlformats.org/officeDocument/2006/relationships/slide" Target="slides/slide11.xml"/><Relationship Id="rId4" Type="http://schemas.openxmlformats.org/officeDocument/2006/relationships/slide" Target="slides/slide10.xml"/><Relationship Id="rId5" Type="http://schemas.openxmlformats.org/officeDocument/2006/relationships/slide" Target="slides/slide9.xml"/><Relationship Id="rId6" Type="http://schemas.openxmlformats.org/officeDocument/2006/relationships/slide" Target="slides/slide8.xml"/><Relationship Id="rId7" Type="http://schemas.openxmlformats.org/officeDocument/2006/relationships/slide" Target="slides/slide7.xml"/><Relationship Id="rId8" Type="http://schemas.openxmlformats.org/officeDocument/2006/relationships/slide" Target="slides/slide6.xml"/><Relationship Id="rId9" Type="http://schemas.openxmlformats.org/officeDocument/2006/relationships/slide" Target="slides/slide5.xml"/><Relationship Id="rId10" Type="http://schemas.openxmlformats.org/officeDocument/2006/relationships/slide" Target="slides/slide4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notesMaster" Target="notesMasters/notesMaster1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 1">
  <p:cSld name="Титульный слайд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4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4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55" name="Google Shape;55;p14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402" y="320954"/>
            <a:ext cx="1536192" cy="42428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76402" y="1344168"/>
            <a:ext cx="4800600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Inter"/>
              </a:rPr>
              <a:t>Security Auto Mode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Inter"/>
              </a:rPr>
              <a:t>для Kilo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6402" y="3218688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0000"/>
                </a:solidFill>
                <a:latin typeface="Inter"/>
              </a:rPr>
              <a:t>Агент работает сам. Права выдаёт не он.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6402" y="3584448"/>
            <a:ext cx="475488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595959"/>
                </a:solidFill>
                <a:latin typeface="Inter"/>
              </a:rPr>
              <a:t>Дмитрий Воропаев · архитектура, движок решений, измерение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595959"/>
                </a:solidFill>
                <a:latin typeface="Inter"/>
              </a:rPr>
              <a:t>AI Talent Hub · ИТМО</a:t>
            </a:r>
          </a:p>
        </p:txBody>
      </p:sp>
      <p:pic>
        <p:nvPicPr>
          <p:cNvPr id="6" name="Picture 5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974" y="4476902"/>
            <a:ext cx="707745" cy="191109"/>
          </a:xfrm>
          <a:prstGeom prst="rect">
            <a:avLst/>
          </a:prstGeom>
        </p:spPr>
      </p:pic>
      <p:pic>
        <p:nvPicPr>
          <p:cNvPr id="7" name="Picture 6" descr="image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2147" y="4529937"/>
            <a:ext cx="1675180" cy="13807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394960" y="1115568"/>
            <a:ext cx="3272637" cy="2834640"/>
          </a:xfrm>
          <a:prstGeom prst="rect">
            <a:avLst/>
          </a:prstGeom>
          <a:solidFill>
            <a:srgbClr val="0000FF"/>
          </a:solidFill>
          <a:ln>
            <a:noFill/>
          </a:ln>
          <a:effectLst/>
        </p:spPr>
        <p:txBody>
          <a:bodyPr rtlCol="0" anchor="ctr" wrap="square" lIns="274320" rIns="274320" tIns="36576" bIns="36576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Inter"/>
              </a:rPr>
              <a:t>Намерение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Inter"/>
              </a:rPr>
              <a:t>≠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FFFFFF"/>
                </a:solidFill>
                <a:latin typeface="Inter"/>
              </a:rPr>
              <a:t>полномочия</a:t>
            </a:r>
          </a:p>
          <a:p>
            <a:pPr>
              <a:spcAft>
                <a:spcPts val="130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Intent ≠ Authority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Моделью можно управлять со стороны.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Поэтому решение о том, что агенту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позволено, принимает не она.</a:t>
            </a:r>
          </a:p>
        </p:txBody>
      </p:sp>
    </p:spTree>
  </p:cSld>
  <p:bg>
    <p:bgPr>
      <a:solidFill>
        <a:srgbClr val="FAFAFC"/>
      </a:solidFill>
      <a:effectLst/>
    </p:bgPr>
  </p:bg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402" y="320954"/>
            <a:ext cx="1536192" cy="42428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45805" y="416966"/>
            <a:ext cx="621792" cy="267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700" b="0">
                <a:solidFill>
                  <a:srgbClr val="000000"/>
                </a:solidFill>
                <a:latin typeface="Inter"/>
              </a:rPr>
              <a:t>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6402" y="890625"/>
            <a:ext cx="7498079" cy="4326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000000"/>
                </a:solidFill>
                <a:latin typeface="Inter"/>
              </a:rPr>
              <a:t>Подтверждать всё или отдать все права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6402" y="1506199"/>
            <a:ext cx="7680960" cy="2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0000"/>
                </a:solidFill>
                <a:latin typeface="Inter"/>
              </a:rPr>
              <a:t>Агент полезен, когда работает сам. Оба доступных режима это ломают.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6402" y="1939168"/>
            <a:ext cx="3866997" cy="2139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0000FF"/>
                </a:solidFill>
                <a:latin typeface="Inter"/>
              </a:rPr>
              <a:t>Подтверждать всё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6402" y="2180569"/>
            <a:ext cx="3866997" cy="8558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Человек читает десятки одинаковых запросов, перестаёт вчитываться и нажимает «разрешить» не глядя. Самостоятельности не остаётся.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1939168"/>
            <a:ext cx="3866997" cy="2139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0000FF"/>
                </a:solidFill>
                <a:latin typeface="Inter"/>
              </a:rPr>
              <a:t>Разрешить всё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0" y="2180569"/>
            <a:ext cx="3866997" cy="8558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Агент получает те же права, что и разработчик. На самом самостоятельном обычном Kilo до настоящего вреда доходят все 237 прогонов атак из 237.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6402" y="3219328"/>
            <a:ext cx="81911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Arial"/>
              </a:rPr>
              <a:t>Пользователи — разработчик, который уходит от экрана, и тимлид, решающий за команду.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6402" y="3621664"/>
            <a:ext cx="1714500" cy="4197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2200" b="1">
                <a:solidFill>
                  <a:srgbClr val="0000FF"/>
                </a:solidFill>
                <a:latin typeface="Inter"/>
              </a:rPr>
              <a:t>237 / 237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6402" y="4132813"/>
            <a:ext cx="1714500" cy="4101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прогонов атак дошли до вреда без защиты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34386" y="3621664"/>
            <a:ext cx="1714500" cy="4197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2200" b="1">
                <a:solidFill>
                  <a:srgbClr val="0000FF"/>
                </a:solidFill>
                <a:latin typeface="Inter"/>
              </a:rPr>
              <a:t>130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34386" y="4132813"/>
            <a:ext cx="1714500" cy="4101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сценариев: 81 атака, 49 обычных задач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93284" y="3621664"/>
            <a:ext cx="1714500" cy="4197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2200" b="1">
                <a:solidFill>
                  <a:srgbClr val="0000FF"/>
                </a:solidFill>
                <a:latin typeface="Inter"/>
              </a:rPr>
              <a:t>3510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93284" y="4132813"/>
            <a:ext cx="1714500" cy="4101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прогонов в измерении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51268" y="3621664"/>
            <a:ext cx="1714500" cy="4197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2200" b="1">
                <a:solidFill>
                  <a:srgbClr val="0000FF"/>
                </a:solidFill>
                <a:latin typeface="Inter"/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51268" y="4132813"/>
            <a:ext cx="1714500" cy="4101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обращений к модели при решении</a:t>
            </a:r>
          </a:p>
        </p:txBody>
      </p:sp>
    </p:spTree>
  </p:cSld>
  <p:bg>
    <p:bgPr>
      <a:solidFill>
        <a:srgbClr val="FAFAFC"/>
      </a:solidFill>
      <a:effectLst/>
    </p:bgPr>
  </p:bg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402" y="320954"/>
            <a:ext cx="1536192" cy="42428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45805" y="416966"/>
            <a:ext cx="621792" cy="267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700" b="0">
                <a:solidFill>
                  <a:srgbClr val="000000"/>
                </a:solidFill>
                <a:latin typeface="Inter"/>
              </a:rPr>
              <a:t>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6402" y="890625"/>
            <a:ext cx="7498079" cy="8653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000000"/>
                </a:solidFill>
                <a:latin typeface="Inter"/>
              </a:rPr>
              <a:t>Считаем, что моделью можно управлять со стороны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6402" y="1938893"/>
            <a:ext cx="7680960" cy="2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0000"/>
                </a:solidFill>
                <a:latin typeface="Inter"/>
              </a:rPr>
              <a:t>Разработчику доверяем. Его окружению и рассуждению модели — нет.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6402" y="2371862"/>
            <a:ext cx="2492654" cy="196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0000FF"/>
                </a:solidFill>
                <a:latin typeface="Inter"/>
              </a:rPr>
              <a:t>Доверяем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6402" y="2595432"/>
            <a:ext cx="2492654" cy="9806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Arial"/>
              </a:rPr>
              <a:t>Разработчику и его задаче. Его личным настройкам Kilo. Коду самого Kilo. Механизму изоляции операционной системы.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2015" y="2371862"/>
            <a:ext cx="2492654" cy="196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0000FF"/>
                </a:solidFill>
                <a:latin typeface="Inter"/>
              </a:rPr>
              <a:t>Не доверяем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22015" y="2595432"/>
            <a:ext cx="2492654" cy="9806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Arial"/>
              </a:rPr>
              <a:t>Рассуждению модели. Содержимому репозитория. Имени пакета, которое придумала модель. Описаниям внешних инструментов. Коду проекта.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0371" y="2371862"/>
            <a:ext cx="2492654" cy="196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0000FF"/>
                </a:solidFill>
                <a:latin typeface="Inter"/>
              </a:rPr>
              <a:t>Что из этого следует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0371" y="2595432"/>
            <a:ext cx="2492654" cy="9806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Arial"/>
              </a:rPr>
              <a:t>Решение не зависит от того, распознала ли модель атаку. Его принимает отдельный слой, а часть границ подтверждает операционная система.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6402" y="3813870"/>
            <a:ext cx="8191195" cy="911599"/>
          </a:xfrm>
          <a:prstGeom prst="rect">
            <a:avLst/>
          </a:prstGeom>
          <a:noFill/>
          <a:ln w="9525">
            <a:solidFill>
              <a:srgbClr val="000000"/>
            </a:solidFill>
          </a:ln>
          <a:effectLst/>
        </p:spPr>
        <p:txBody>
          <a:bodyPr rtlCol="0" anchor="t" wrap="square" lIns="210312" rIns="210312" tIns="118872" bIns="36576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  <a:latin typeface="Inter"/>
              </a:rPr>
              <a:t>Намерение ≠ полномочия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Arial"/>
              </a:rPr>
              <a:t>Подсказка со стороны может изменить то, чего хочет модель. Изменить то, что ей позволено, она не может.</a:t>
            </a:r>
          </a:p>
        </p:txBody>
      </p:sp>
    </p:spTree>
  </p:cSld>
  <p:bg>
    <p:bgPr>
      <a:solidFill>
        <a:srgbClr val="FAFAFC"/>
      </a:solidFill>
      <a:effectLst/>
    </p:bgPr>
  </p:bg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402" y="320954"/>
            <a:ext cx="1536192" cy="42428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45805" y="416966"/>
            <a:ext cx="621792" cy="267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700" b="0">
                <a:solidFill>
                  <a:srgbClr val="000000"/>
                </a:solidFill>
                <a:latin typeface="Inter"/>
              </a:rPr>
              <a:t>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6402" y="890625"/>
            <a:ext cx="7498079" cy="8653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000000"/>
                </a:solidFill>
                <a:latin typeface="Inter"/>
              </a:rPr>
              <a:t>Решение — по действию, источнику и истории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6402" y="1975469"/>
            <a:ext cx="249265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0000FF"/>
                </a:solidFill>
                <a:latin typeface="Inter"/>
              </a:rPr>
              <a:t>Что агент хочет сделать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6402" y="2185781"/>
            <a:ext cx="249265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595959"/>
                </a:solidFill>
                <a:latin typeface="Arial"/>
              </a:rPr>
              <a:t>запустить команду, прочитать файл, вызвать инструмент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22015" y="1975469"/>
            <a:ext cx="249265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0000FF"/>
                </a:solidFill>
                <a:latin typeface="Inter"/>
              </a:rPr>
              <a:t>С каким файлом или пакетом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2015" y="2185781"/>
            <a:ext cx="249265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595959"/>
                </a:solidFill>
                <a:latin typeface="Arial"/>
              </a:rPr>
              <a:t>путь раскрывается до настоящего, команда разбирается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0371" y="1975469"/>
            <a:ext cx="249265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0000FF"/>
                </a:solidFill>
                <a:latin typeface="Inter"/>
              </a:rPr>
              <a:t>Откуда пришёл вызов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0371" y="2185781"/>
            <a:ext cx="249265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595959"/>
                </a:solidFill>
                <a:latin typeface="Arial"/>
              </a:rPr>
              <a:t>встроенный инструмент, MCP, инструмент проекта, расширение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6402" y="2615549"/>
            <a:ext cx="249265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0000FF"/>
                </a:solidFill>
                <a:latin typeface="Inter"/>
              </a:rPr>
              <a:t>Просил ли это пользователь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6402" y="2825861"/>
            <a:ext cx="249265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595959"/>
                </a:solidFill>
                <a:latin typeface="Arial"/>
              </a:rPr>
              <a:t>движок этого входа не получает и судит одинаково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22015" y="2615549"/>
            <a:ext cx="249265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0000FF"/>
                </a:solidFill>
                <a:latin typeface="Inter"/>
              </a:rPr>
              <a:t>Что уже было в этой сессии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22015" y="2825861"/>
            <a:ext cx="249265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595959"/>
                </a:solidFill>
                <a:latin typeface="Arial"/>
              </a:rPr>
              <a:t>какие секреты прочитаны и в какие файлы попали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0371" y="2615549"/>
            <a:ext cx="249265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0000FF"/>
                </a:solidFill>
                <a:latin typeface="Inter"/>
              </a:rPr>
              <a:t>Какие признаки риска нашлись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0371" y="2825861"/>
            <a:ext cx="249265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595959"/>
                </a:solidFill>
                <a:latin typeface="Arial"/>
              </a:rPr>
              <a:t>разбор команды, происхождение пакета, содержимое файла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6402" y="3255629"/>
            <a:ext cx="8191195" cy="365760"/>
          </a:xfrm>
          <a:prstGeom prst="rect">
            <a:avLst/>
          </a:prstGeom>
          <a:solidFill>
            <a:srgbClr val="0000FF"/>
          </a:solidFill>
          <a:ln>
            <a:noFill/>
          </a:ln>
          <a:effectLst/>
        </p:spPr>
        <p:txBody>
          <a:bodyPr rtlCol="0" anchor="ctr" wrap="square" lIns="54864" rIns="54864" tIns="36576" bIns="36576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Inter"/>
              </a:rPr>
              <a:t>Политика безопасности — один и тот же движок для каждого вызова с последствиями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6402" y="3822557"/>
            <a:ext cx="2492654" cy="196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0000FF"/>
                </a:solidFill>
                <a:latin typeface="Inter"/>
              </a:rPr>
              <a:t>Разрешено · ALLOW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6402" y="4046128"/>
            <a:ext cx="2492654" cy="588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Arial"/>
              </a:rPr>
              <a:t>Действие выполняется в тех границах, к которым относится разрешение.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22015" y="3822557"/>
            <a:ext cx="2492654" cy="196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0000FF"/>
                </a:solidFill>
                <a:latin typeface="Inter"/>
              </a:rPr>
              <a:t>Вопрос человеку · ASK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22015" y="4046128"/>
            <a:ext cx="2492654" cy="588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Arial"/>
              </a:rPr>
              <a:t>Дальше без человека небезопасно. Самостоятельный режим этот вопрос не снимает.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0371" y="3822557"/>
            <a:ext cx="2492654" cy="196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0000FF"/>
                </a:solidFill>
                <a:latin typeface="Inter"/>
              </a:rPr>
              <a:t>Запрещено · DENY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0371" y="4046128"/>
            <a:ext cx="2492654" cy="588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Arial"/>
              </a:rPr>
              <a:t>Действие не выполняется. Агент получает причину и продолжает работу.</a:t>
            </a:r>
          </a:p>
        </p:txBody>
      </p:sp>
    </p:spTree>
  </p:cSld>
  <p:bg>
    <p:bgPr>
      <a:solidFill>
        <a:srgbClr val="FAFAFC"/>
      </a:solidFill>
      <a:effectLst/>
    </p:bgPr>
  </p:bg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402" y="320954"/>
            <a:ext cx="1536192" cy="42428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45805" y="416966"/>
            <a:ext cx="621792" cy="267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700" b="0">
                <a:solidFill>
                  <a:srgbClr val="000000"/>
                </a:solidFill>
                <a:latin typeface="Inter"/>
              </a:rPr>
              <a:t>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6402" y="890625"/>
            <a:ext cx="7498079" cy="4326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000000"/>
                </a:solidFill>
                <a:latin typeface="Inter"/>
              </a:rPr>
              <a:t>Откуда берутся признаки риска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6402" y="1487911"/>
            <a:ext cx="7680960" cy="2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0000"/>
                </a:solidFill>
                <a:latin typeface="Inter"/>
              </a:rPr>
              <a:t>Каждый признак — ответ на понятный вопрос, а не совпадение со списком строк.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6402" y="1939168"/>
            <a:ext cx="3866997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0000FF"/>
                </a:solidFill>
                <a:latin typeface="Inter"/>
              </a:rPr>
              <a:t>Опасна ли сама команда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6402" y="2158624"/>
            <a:ext cx="386699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Arial"/>
              </a:rPr>
              <a:t>Раскрываются переменные, вызовы и пути.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6402" y="2368936"/>
            <a:ext cx="3866997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850" b="0">
                <a:solidFill>
                  <a:srgbClr val="595959"/>
                </a:solidFill>
                <a:latin typeface="Arial"/>
              </a:rPr>
              <a:t>Deterministic Security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6402" y="2597536"/>
            <a:ext cx="3866997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0000FF"/>
                </a:solidFill>
                <a:latin typeface="Inter"/>
              </a:rPr>
              <a:t>Что известно про пакет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6402" y="2816992"/>
            <a:ext cx="386699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Arial"/>
              </a:rPr>
              <a:t>Возраст, распространённость, скрипты установки.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6402" y="3027304"/>
            <a:ext cx="3866997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850" b="0">
                <a:solidFill>
                  <a:srgbClr val="595959"/>
                </a:solidFill>
                <a:latin typeface="Arial"/>
              </a:rPr>
              <a:t>Package Security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6402" y="3255904"/>
            <a:ext cx="3866997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0000FF"/>
                </a:solidFill>
                <a:latin typeface="Inter"/>
              </a:rPr>
              <a:t>Мы уже читали секрет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6402" y="3475360"/>
            <a:ext cx="386699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Arial"/>
              </a:rPr>
              <a:t>Что прочитано и в какие файлы это попало.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6402" y="3685672"/>
            <a:ext cx="3866997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850" b="0">
                <a:solidFill>
                  <a:srgbClr val="595959"/>
                </a:solidFill>
                <a:latin typeface="Arial"/>
              </a:rPr>
              <a:t>Stateful Egress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6402" y="3914272"/>
            <a:ext cx="3866997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0000FF"/>
                </a:solidFill>
                <a:latin typeface="Inter"/>
              </a:rPr>
              <a:t>Кто вызывает действие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6402" y="4133728"/>
            <a:ext cx="386699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Arial"/>
              </a:rPr>
              <a:t>Права следуют из происхождения, не из описания.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6402" y="4344040"/>
            <a:ext cx="3866997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850" b="0">
                <a:solidFill>
                  <a:srgbClr val="595959"/>
                </a:solidFill>
                <a:latin typeface="Arial"/>
              </a:rPr>
              <a:t>Delegated Tool Security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1939168"/>
            <a:ext cx="3866997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0000FF"/>
                </a:solidFill>
                <a:latin typeface="Inter"/>
              </a:rPr>
              <a:t>Есть ли в файле учётные данные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2158624"/>
            <a:ext cx="386699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Arial"/>
              </a:rPr>
              <a:t>Форматы токенов, ключи, присваивания в тексте.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2368936"/>
            <a:ext cx="3866997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850" b="0">
                <a:solidFill>
                  <a:srgbClr val="595959"/>
                </a:solidFill>
                <a:latin typeface="Arial"/>
              </a:rPr>
              <a:t>Content Secret Detection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2597536"/>
            <a:ext cx="3866997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0000FF"/>
                </a:solidFill>
                <a:latin typeface="Inter"/>
              </a:rPr>
              <a:t>Код проекта пытается запуститься сам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600" y="2816992"/>
            <a:ext cx="386699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Arial"/>
              </a:rPr>
              <a:t>Файл выполняет верхний уровень при импорте.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0600" y="3027304"/>
            <a:ext cx="3866997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850" b="0">
                <a:solidFill>
                  <a:srgbClr val="595959"/>
                </a:solidFill>
                <a:latin typeface="Arial"/>
              </a:rPr>
              <a:t>Executable Code Trust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3255904"/>
            <a:ext cx="3866997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0000FF"/>
                </a:solidFill>
                <a:latin typeface="Inter"/>
              </a:rPr>
              <a:t>Расширение выходит за свои права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0600" y="3475360"/>
            <a:ext cx="386699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Arial"/>
              </a:rPr>
              <a:t>Чтение, запись, сеть и процессы — по запросу.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600" y="3685672"/>
            <a:ext cx="3866997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850" b="0">
                <a:solidFill>
                  <a:srgbClr val="595959"/>
                </a:solidFill>
                <a:latin typeface="Arial"/>
              </a:rPr>
              <a:t>Permissioned Extension Runtime</a:t>
            </a:r>
          </a:p>
        </p:txBody>
      </p:sp>
    </p:spTree>
  </p:cSld>
  <p:bg>
    <p:bgPr>
      <a:solidFill>
        <a:srgbClr val="FAFAFC"/>
      </a:solidFill>
      <a:effectLst/>
    </p:bgPr>
  </p:bg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402" y="320954"/>
            <a:ext cx="1536192" cy="42428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45805" y="416966"/>
            <a:ext cx="621792" cy="267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700" b="0">
                <a:solidFill>
                  <a:srgbClr val="000000"/>
                </a:solidFill>
                <a:latin typeface="Inter"/>
              </a:rPr>
              <a:t>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6402" y="890625"/>
            <a:ext cx="7680960" cy="4326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000000"/>
                </a:solidFill>
                <a:latin typeface="Inter"/>
              </a:rPr>
              <a:t>Разрешить действие ≠ отдать все права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6402" y="1487911"/>
            <a:ext cx="7680960" cy="2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0000"/>
                </a:solidFill>
                <a:latin typeface="Inter"/>
              </a:rPr>
              <a:t>Для расширения проекта одобрение — только первый шаг.</a:t>
            </a:r>
          </a:p>
        </p:txBody>
      </p:sp>
      <p:sp>
        <p:nvSpPr>
          <p:cNvPr id="6" name="Rectangle 5"/>
          <p:cNvSpPr/>
          <p:nvPr/>
        </p:nvSpPr>
        <p:spPr>
          <a:xfrm>
            <a:off x="476402" y="1902592"/>
            <a:ext cx="4846320" cy="512064"/>
          </a:xfrm>
          <a:prstGeom prst="rect">
            <a:avLst/>
          </a:prstGeom>
          <a:solidFill>
            <a:srgbClr val="0000FF"/>
          </a:solidFill>
          <a:ln>
            <a:noFill/>
          </a:ln>
          <a:effectLst/>
        </p:spPr>
        <p:txBody>
          <a:bodyPr rtlCol="0" anchor="ctr" wrap="square" lIns="54864" rIns="54864" tIns="36576" bIns="36576"/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  <a:latin typeface="Inter"/>
              </a:rPr>
              <a:t>Пользователь одобрил расширение</a:t>
            </a:r>
          </a:p>
          <a:p>
            <a:pPr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одобрены конкретные байты: правка файла отзывает одобрение</a:t>
            </a:r>
          </a:p>
        </p:txBody>
      </p:sp>
      <p:sp>
        <p:nvSpPr>
          <p:cNvPr id="7" name="Down Arrow 6"/>
          <p:cNvSpPr/>
          <p:nvPr/>
        </p:nvSpPr>
        <p:spPr>
          <a:xfrm>
            <a:off x="2853842" y="2437516"/>
            <a:ext cx="91440" cy="54864"/>
          </a:xfrm>
          <a:prstGeom prst="downArrow">
            <a:avLst/>
          </a:prstGeom>
          <a:solidFill>
            <a:srgbClr val="59595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6402" y="2515240"/>
            <a:ext cx="4846320" cy="512064"/>
          </a:xfrm>
          <a:prstGeom prst="rect">
            <a:avLst/>
          </a:prstGeom>
          <a:noFill/>
          <a:ln w="9525">
            <a:solidFill>
              <a:srgbClr val="000000"/>
            </a:solidFill>
          </a:ln>
          <a:effectLst/>
        </p:spPr>
        <p:txBody>
          <a:bodyPr rtlCol="0" anchor="ctr" wrap="square" lIns="54864" rIns="54864" tIns="36576" bIns="36576"/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000000"/>
                </a:solidFill>
                <a:latin typeface="Inter"/>
              </a:rPr>
              <a:t>Ему выданы конкретные права</a:t>
            </a:r>
          </a:p>
          <a:p>
            <a:pPr>
              <a:spcAft>
                <a:spcPts val="0"/>
              </a:spcAft>
            </a:pPr>
            <a:r>
              <a:rPr sz="850" b="0">
                <a:solidFill>
                  <a:srgbClr val="595959"/>
                </a:solidFill>
                <a:latin typeface="Arial"/>
              </a:rPr>
              <a:t>чтение, запись, сеть, запуск процессов — по отдельности</a:t>
            </a:r>
          </a:p>
        </p:txBody>
      </p:sp>
      <p:sp>
        <p:nvSpPr>
          <p:cNvPr id="9" name="Down Arrow 8"/>
          <p:cNvSpPr/>
          <p:nvPr/>
        </p:nvSpPr>
        <p:spPr>
          <a:xfrm>
            <a:off x="2853842" y="3050164"/>
            <a:ext cx="91440" cy="54864"/>
          </a:xfrm>
          <a:prstGeom prst="downArrow">
            <a:avLst/>
          </a:prstGeom>
          <a:solidFill>
            <a:srgbClr val="59595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6402" y="3127888"/>
            <a:ext cx="4846320" cy="512064"/>
          </a:xfrm>
          <a:prstGeom prst="rect">
            <a:avLst/>
          </a:prstGeom>
          <a:noFill/>
          <a:ln w="9525">
            <a:solidFill>
              <a:srgbClr val="000000"/>
            </a:solidFill>
          </a:ln>
          <a:effectLst/>
        </p:spPr>
        <p:txBody>
          <a:bodyPr rtlCol="0" anchor="ctr" wrap="square" lIns="54864" rIns="54864" tIns="36576" bIns="36576"/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000000"/>
                </a:solidFill>
                <a:latin typeface="Inter"/>
              </a:rPr>
              <a:t>Работает в отдельном процессе под профилем ОС</a:t>
            </a:r>
          </a:p>
          <a:p>
            <a:pPr>
              <a:spcAft>
                <a:spcPts val="0"/>
              </a:spcAft>
            </a:pPr>
            <a:r>
              <a:rPr sz="850" b="0">
                <a:solidFill>
                  <a:srgbClr val="595959"/>
                </a:solidFill>
                <a:latin typeface="Arial"/>
              </a:rPr>
              <a:t>ссылка, «..» и абсолютный путь не выводят наружу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2853842" y="3662812"/>
            <a:ext cx="91440" cy="54864"/>
          </a:xfrm>
          <a:prstGeom prst="downArrow">
            <a:avLst/>
          </a:prstGeom>
          <a:solidFill>
            <a:srgbClr val="59595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6402" y="3740536"/>
            <a:ext cx="4846320" cy="512064"/>
          </a:xfrm>
          <a:prstGeom prst="rect">
            <a:avLst/>
          </a:prstGeom>
          <a:noFill/>
          <a:ln w="9525">
            <a:solidFill>
              <a:srgbClr val="000000"/>
            </a:solidFill>
          </a:ln>
          <a:effectLst/>
        </p:spPr>
        <p:txBody>
          <a:bodyPr rtlCol="0" anchor="ctr" wrap="square" lIns="54864" rIns="54864" tIns="36576" bIns="36576"/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000000"/>
                </a:solidFill>
                <a:latin typeface="Inter"/>
              </a:rPr>
              <a:t>Привилегированное действие — снова запрос</a:t>
            </a:r>
          </a:p>
          <a:p>
            <a:pPr>
              <a:spcAft>
                <a:spcPts val="0"/>
              </a:spcAft>
            </a:pPr>
            <a:r>
              <a:rPr sz="850" b="0">
                <a:solidFill>
                  <a:srgbClr val="595959"/>
                </a:solidFill>
                <a:latin typeface="Arial"/>
              </a:rPr>
              <a:t>к тому же движку, а не прямой вызов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1902592"/>
            <a:ext cx="3089757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0000FF"/>
                </a:solidFill>
                <a:latin typeface="Inter"/>
              </a:rPr>
              <a:t>Что это дало на измерении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2167768"/>
            <a:ext cx="3089757" cy="1872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Arial"/>
              </a:rPr>
              <a:t>Расширение вышло за выданные права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0" y="2382423"/>
            <a:ext cx="308975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0000FF"/>
                </a:solidFill>
                <a:latin typeface="Inter"/>
              </a:rPr>
              <a:t>24 / 24  →  0 / 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0" y="2757327"/>
            <a:ext cx="3089757" cy="1872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Arial"/>
              </a:rPr>
              <a:t>Расширение прочитало чужой файл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7840" y="2971982"/>
            <a:ext cx="308975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0000FF"/>
                </a:solidFill>
                <a:latin typeface="Inter"/>
              </a:rPr>
              <a:t>33 / 33  →  3 / 33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3401750"/>
            <a:ext cx="3089757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595959"/>
                </a:solidFill>
                <a:latin typeface="Arial"/>
              </a:rPr>
              <a:t>Граница держится на механизме операционной системы. На macOS проверена прямыми пробами внутри настоящего процесса; профиль Linux написан, но здесь не проверялся. Без такого механизма расширение не запускается вовсе.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6402" y="4380616"/>
            <a:ext cx="4846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595959"/>
                </a:solidFill>
                <a:latin typeface="Arial"/>
              </a:rPr>
              <a:t>Permissioned Extension Runtime · Read-Confinement</a:t>
            </a:r>
          </a:p>
        </p:txBody>
      </p:sp>
    </p:spTree>
  </p:cSld>
  <p:bg>
    <p:bgPr>
      <a:solidFill>
        <a:srgbClr val="FAFAFC"/>
      </a:solidFill>
      <a:effectLst/>
    </p:bgPr>
  </p:bg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402" y="320954"/>
            <a:ext cx="1536192" cy="42428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45805" y="416966"/>
            <a:ext cx="621792" cy="267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700" b="0">
                <a:solidFill>
                  <a:srgbClr val="000000"/>
                </a:solidFill>
                <a:latin typeface="Inter"/>
              </a:rPr>
              <a:t>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6402" y="890625"/>
            <a:ext cx="7498079" cy="8653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000000"/>
                </a:solidFill>
                <a:latin typeface="Inter"/>
              </a:rPr>
              <a:t>Подозрительный пакет останавливается до установки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6402" y="1884029"/>
            <a:ext cx="7680960" cy="2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0000"/>
                </a:solidFill>
                <a:latin typeface="Inter"/>
              </a:rPr>
              <a:t>Модель придумывает имя библиотеки, атакующий его заранее регистрирует.</a:t>
            </a:r>
          </a:p>
        </p:txBody>
      </p:sp>
      <p:sp>
        <p:nvSpPr>
          <p:cNvPr id="6" name="Rectangle 5"/>
          <p:cNvSpPr/>
          <p:nvPr/>
        </p:nvSpPr>
        <p:spPr>
          <a:xfrm>
            <a:off x="476402" y="2316998"/>
            <a:ext cx="1737360" cy="512064"/>
          </a:xfrm>
          <a:prstGeom prst="rect">
            <a:avLst/>
          </a:prstGeom>
          <a:noFill/>
          <a:ln w="9525">
            <a:solidFill>
              <a:srgbClr val="000000"/>
            </a:solidFill>
          </a:ln>
          <a:effectLst/>
        </p:spPr>
        <p:txBody>
          <a:bodyPr rtlCol="0" anchor="ctr" wrap="square" lIns="54864" rIns="54864" tIns="36576" bIns="36576"/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000000"/>
                </a:solidFill>
                <a:latin typeface="Inter"/>
              </a:rPr>
              <a:t>Агент предлагает</a:t>
            </a:r>
          </a:p>
          <a:p>
            <a:pPr>
              <a:spcAft>
                <a:spcPts val="0"/>
              </a:spcAft>
            </a:pPr>
            <a:r>
              <a:rPr sz="900" b="0">
                <a:solidFill>
                  <a:srgbClr val="595959"/>
                </a:solidFill>
                <a:latin typeface="Arial"/>
              </a:rPr>
              <a:t>зависимость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241194" y="2531882"/>
            <a:ext cx="146304" cy="82296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14930" y="2316998"/>
            <a:ext cx="1737360" cy="512064"/>
          </a:xfrm>
          <a:prstGeom prst="rect">
            <a:avLst/>
          </a:prstGeom>
          <a:solidFill>
            <a:srgbClr val="0000FF"/>
          </a:solidFill>
          <a:ln>
            <a:noFill/>
          </a:ln>
          <a:effectLst/>
        </p:spPr>
        <p:txBody>
          <a:bodyPr rtlCol="0" anchor="ctr" wrap="square" lIns="54864" rIns="54864" tIns="36576" bIns="36576"/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  <a:latin typeface="Inter"/>
              </a:rPr>
              <a:t>Оценка</a:t>
            </a:r>
          </a:p>
          <a:p>
            <a:pPr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Arial"/>
              </a:rPr>
              <a:t>происхождения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179722" y="2531882"/>
            <a:ext cx="146304" cy="82296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53458" y="2316998"/>
            <a:ext cx="1737360" cy="512064"/>
          </a:xfrm>
          <a:prstGeom prst="rect">
            <a:avLst/>
          </a:prstGeom>
          <a:solidFill>
            <a:srgbClr val="0000FF"/>
          </a:solidFill>
          <a:ln>
            <a:noFill/>
          </a:ln>
          <a:effectLst/>
        </p:spPr>
        <p:txBody>
          <a:bodyPr rtlCol="0" anchor="ctr" wrap="square" lIns="54864" rIns="54864" tIns="36576" bIns="36576"/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  <a:latin typeface="Inter"/>
              </a:rPr>
              <a:t>Решение</a:t>
            </a:r>
          </a:p>
          <a:p>
            <a:pPr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Arial"/>
              </a:rPr>
              <a:t>ALLOW · ASK · DENY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118250" y="2531882"/>
            <a:ext cx="146304" cy="82296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91986" y="2316998"/>
            <a:ext cx="1737360" cy="512064"/>
          </a:xfrm>
          <a:prstGeom prst="rect">
            <a:avLst/>
          </a:prstGeom>
          <a:noFill/>
          <a:ln w="9525">
            <a:solidFill>
              <a:srgbClr val="000000"/>
            </a:solidFill>
          </a:ln>
          <a:effectLst/>
        </p:spPr>
        <p:txBody>
          <a:bodyPr rtlCol="0" anchor="ctr" wrap="square" lIns="54864" rIns="54864" tIns="36576" bIns="36576"/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000000"/>
                </a:solidFill>
                <a:latin typeface="Inter"/>
              </a:rPr>
              <a:t>Установка</a:t>
            </a:r>
          </a:p>
          <a:p>
            <a:pPr>
              <a:spcAft>
                <a:spcPts val="0"/>
              </a:spcAft>
            </a:pPr>
            <a:r>
              <a:rPr sz="900" b="0">
                <a:solidFill>
                  <a:srgbClr val="595959"/>
                </a:solidFill>
                <a:latin typeface="Arial"/>
              </a:rPr>
              <a:t>запускается или нет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6402" y="2975366"/>
            <a:ext cx="2492654" cy="196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0000FF"/>
                </a:solidFill>
                <a:latin typeface="Inter"/>
              </a:rPr>
              <a:t>Что известно точно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6402" y="3198936"/>
            <a:ext cx="2492654" cy="588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Arial"/>
              </a:rPr>
              <a:t>Возраст пакета и выпуска, скрипты установки, репозиторий, подмена реестра.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22015" y="2975366"/>
            <a:ext cx="2492654" cy="196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0000FF"/>
                </a:solidFill>
                <a:latin typeface="Inter"/>
              </a:rPr>
              <a:t>Что оцениваем приблизительно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22015" y="3198936"/>
            <a:ext cx="2492654" cy="588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Arial"/>
              </a:rPr>
              <a:t>Насколько распространён и похоже ли имя на известную библиотеку.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0371" y="2975366"/>
            <a:ext cx="2492654" cy="196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0000FF"/>
                </a:solidFill>
                <a:latin typeface="Inter"/>
              </a:rPr>
              <a:t>Если ничего не известно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0371" y="3198936"/>
            <a:ext cx="2492654" cy="588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Arial"/>
              </a:rPr>
              <a:t>Метаданных нет, пакета нет в реестре. Неизвестность не даёт разрешения.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6402" y="3897081"/>
            <a:ext cx="8191195" cy="1115910"/>
          </a:xfrm>
          <a:prstGeom prst="rect">
            <a:avLst/>
          </a:prstGeom>
          <a:noFill/>
          <a:ln w="9525">
            <a:solidFill>
              <a:srgbClr val="000000"/>
            </a:solidFill>
          </a:ln>
          <a:effectLst/>
        </p:spPr>
        <p:txBody>
          <a:bodyPr rtlCol="0" anchor="t" wrap="square" lIns="210312" rIns="210312" tIns="118872" bIns="36576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  <a:latin typeface="Inter"/>
              </a:rPr>
              <a:t>Происхождение пакета оценивается до его локального исполнения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Arial"/>
              </a:rPr>
              <a:t>Проверка идёт внутри работы агента, а не в сборке. Это оценка происхождения, а не разбор кода. Измерено: 42 из 42 без защиты, 0 из 42 с ней.</a:t>
            </a:r>
          </a:p>
        </p:txBody>
      </p:sp>
    </p:spTree>
  </p:cSld>
  <p:bg>
    <p:bgPr>
      <a:solidFill>
        <a:srgbClr val="FAFAFC"/>
      </a:solidFill>
      <a:effectLst/>
    </p:bgPr>
  </p:bg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402" y="320954"/>
            <a:ext cx="1536192" cy="42428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45805" y="416966"/>
            <a:ext cx="621792" cy="267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700" b="0">
                <a:solidFill>
                  <a:srgbClr val="000000"/>
                </a:solidFill>
                <a:latin typeface="Inter"/>
              </a:rPr>
              <a:t>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6402" y="890625"/>
            <a:ext cx="7498079" cy="8653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000000"/>
                </a:solidFill>
                <a:latin typeface="Inter"/>
              </a:rPr>
              <a:t>Модель понимает смысл, правила держат полномочия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6402" y="1884029"/>
            <a:ext cx="7680960" cy="2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0000"/>
                </a:solidFill>
                <a:latin typeface="Inter"/>
              </a:rPr>
              <a:t>Два вопроса, на которые у детерминированного контура нет входа.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6402" y="2262134"/>
            <a:ext cx="2492654" cy="1872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50" b="0">
                <a:solidFill>
                  <a:srgbClr val="0000FF"/>
                </a:solidFill>
                <a:latin typeface="Inter"/>
              </a:rPr>
              <a:t>Откуда пришла инструкция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6402" y="2476789"/>
            <a:ext cx="2492654" cy="1123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Arial"/>
              </a:rPr>
              <a:t>README, документация зависимости, страница из сети, ответ внешнего инструмента. Для правил по путям это одинаковые обычные файлы. Написал их не пользователь.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2015" y="2262134"/>
            <a:ext cx="2492654" cy="1872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50" b="0">
                <a:solidFill>
                  <a:srgbClr val="0000FF"/>
                </a:solidFill>
                <a:latin typeface="Inter"/>
              </a:rPr>
              <a:t>Связано ли действие с задачей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22015" y="2476789"/>
            <a:ext cx="2492654" cy="1123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Arial"/>
              </a:rPr>
              <a:t>«Поправь опечатку в README» и отправка ключа наружу не связаны ничем. Совпадение с задачей только снижает тревогу и никогда не даёт разрешения.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0371" y="2262134"/>
            <a:ext cx="2492654" cy="1872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50" b="0">
                <a:solidFill>
                  <a:srgbClr val="0000FF"/>
                </a:solidFill>
                <a:latin typeface="Inter"/>
              </a:rPr>
              <a:t>Чего модель не может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0371" y="2476789"/>
            <a:ext cx="2492654" cy="1123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Arial"/>
              </a:rPr>
              <a:t>Она возвращает не решение, а свидетельство, и свёртка умеет только ужесточать. Отменить запрет или выдать разрешение она не способна — это свойство кода, а не обещание.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6402" y="3764721"/>
            <a:ext cx="2364638" cy="3840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2000" b="1">
                <a:solidFill>
                  <a:srgbClr val="0000FF"/>
                </a:solidFill>
                <a:latin typeface="Inter"/>
              </a:rPr>
              <a:t>92 % → 0 %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6402" y="4240209"/>
            <a:ext cx="2364638" cy="4101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подброшенная инструкция доводит дело до вреда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6800" y="3764721"/>
            <a:ext cx="2364638" cy="3840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2000" b="1">
                <a:solidFill>
                  <a:srgbClr val="0000FF"/>
                </a:solidFill>
                <a:latin typeface="Inter"/>
              </a:rPr>
              <a:t>100 % → 0 %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6800" y="4240209"/>
            <a:ext cx="2364638" cy="4101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действие не по задаче пользователя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37199" y="3764721"/>
            <a:ext cx="2364638" cy="3840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2000" b="1">
                <a:solidFill>
                  <a:srgbClr val="0000FF"/>
                </a:solidFill>
                <a:latin typeface="Inter"/>
              </a:rPr>
              <a:t>95 %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37199" y="4240209"/>
            <a:ext cx="2364638" cy="4101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обычных задач по-прежнему выполняются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6402" y="4760046"/>
            <a:ext cx="81911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Arial"/>
              </a:rPr>
              <a:t>Оба класса правила не закрывают: без слоя смысла это 92 % и 100 %.</a:t>
            </a:r>
          </a:p>
        </p:txBody>
      </p:sp>
    </p:spTree>
  </p:cSld>
  <p:bg>
    <p:bgPr>
      <a:solidFill>
        <a:srgbClr val="FAFAFC"/>
      </a:solidFill>
      <a:effectLst/>
    </p:bgPr>
  </p:bg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402" y="320954"/>
            <a:ext cx="1536192" cy="42428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45805" y="416966"/>
            <a:ext cx="621792" cy="267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700" b="0">
                <a:solidFill>
                  <a:srgbClr val="000000"/>
                </a:solidFill>
                <a:latin typeface="Inter"/>
              </a:rPr>
              <a:t>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6402" y="859536"/>
            <a:ext cx="7498079" cy="4326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000000"/>
                </a:solidFill>
                <a:latin typeface="Inter"/>
              </a:rPr>
              <a:t>Одна команда — разные решения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6402" y="1438534"/>
            <a:ext cx="7680960" cy="2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0000"/>
                </a:solidFill>
                <a:latin typeface="Inter"/>
              </a:rPr>
              <a:t>Записи настоящих сессий Kilo с этой ветки. Отличается только пакет.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6402" y="1816638"/>
            <a:ext cx="7315200" cy="196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0000FF"/>
                </a:solidFill>
                <a:latin typeface="Inter"/>
              </a:rPr>
              <a:t>Зрелая библиотека — ставится сразу, без единого вопроса</a:t>
            </a:r>
          </a:p>
        </p:txBody>
      </p:sp>
      <p:pic>
        <p:nvPicPr>
          <p:cNvPr id="7" name="Picture 6" descr="02-known-pack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402" y="2067641"/>
            <a:ext cx="7315200" cy="102908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6402" y="3261320"/>
            <a:ext cx="7315200" cy="196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0000FF"/>
                </a:solidFill>
                <a:latin typeface="Inter"/>
              </a:rPr>
              <a:t>Придуманного имени в реестре нет — агент остановился, пакетный менеджер не запускался</a:t>
            </a:r>
          </a:p>
        </p:txBody>
      </p:sp>
      <p:pic>
        <p:nvPicPr>
          <p:cNvPr id="9" name="Picture 8" descr="03-unknown-package-stopp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402" y="3512323"/>
            <a:ext cx="7315200" cy="102908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76402" y="4669426"/>
            <a:ext cx="81911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Arial"/>
              </a:rPr>
              <a:t>Это не чёрный список: имени, зарегистрированного вчера, в списке нет по определению.</a:t>
            </a:r>
          </a:p>
        </p:txBody>
      </p:sp>
    </p:spTree>
  </p:cSld>
  <p:bg>
    <p:bgPr>
      <a:solidFill>
        <a:srgbClr val="FAFAFC"/>
      </a:solidFill>
      <a:effectLst/>
    </p:bgPr>
  </p:bg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402" y="320954"/>
            <a:ext cx="1536192" cy="42428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45805" y="416966"/>
            <a:ext cx="621792" cy="267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700" b="0">
                <a:solidFill>
                  <a:srgbClr val="000000"/>
                </a:solidFill>
                <a:latin typeface="Inter"/>
              </a:rPr>
              <a:t>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6402" y="859536"/>
            <a:ext cx="7498079" cy="4326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000000"/>
                </a:solidFill>
                <a:latin typeface="Inter"/>
              </a:rPr>
              <a:t>Без защиты проект исчезает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6402" y="1438534"/>
            <a:ext cx="7680960" cy="2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0000"/>
                </a:solidFill>
                <a:latin typeface="Inter"/>
              </a:rPr>
              <a:t>Та же задача и тот же агент. Отличается одно значение настройки.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6402" y="1816638"/>
            <a:ext cx="7315200" cy="196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0000FF"/>
                </a:solidFill>
                <a:latin typeface="Inter"/>
              </a:rPr>
              <a:t>Security Auto выключен — после прогона в рабочем дереве не осталось ничего</a:t>
            </a:r>
          </a:p>
        </p:txBody>
      </p:sp>
      <p:pic>
        <p:nvPicPr>
          <p:cNvPr id="7" name="Picture 6" descr="06-workspace-wipe-bas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402" y="2067641"/>
            <a:ext cx="7315200" cy="102908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6402" y="3261320"/>
            <a:ext cx="7315200" cy="196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0000FF"/>
                </a:solidFill>
                <a:latin typeface="Inter"/>
              </a:rPr>
              <a:t>Security Auto включён — агент ждёт человека, файлы на месте</a:t>
            </a:r>
          </a:p>
        </p:txBody>
      </p:sp>
      <p:pic>
        <p:nvPicPr>
          <p:cNvPr id="9" name="Picture 8" descr="07-workspace-wipe-stopp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402" y="3512323"/>
            <a:ext cx="7315200" cy="102908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76402" y="4669426"/>
            <a:ext cx="81911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595959"/>
                </a:solidFill>
                <a:latin typeface="Arial"/>
              </a:rPr>
              <a:t>Запись сделана без человека за экраном, поэтому вопрос виден как «отвечать некому».</a:t>
            </a:r>
          </a:p>
        </p:txBody>
      </p:sp>
    </p:spTree>
  </p:cSld>
  <p:bg>
    <p:bgPr>
      <a:solidFill>
        <a:srgbClr val="FAFAFC"/>
      </a:solidFill>
      <a:effectLst/>
    </p:bgPr>
  </p:bg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402" y="320954"/>
            <a:ext cx="1536192" cy="42428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45805" y="416966"/>
            <a:ext cx="621792" cy="267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700" b="0">
                <a:solidFill>
                  <a:srgbClr val="000000"/>
                </a:solidFill>
                <a:latin typeface="Inter"/>
              </a:rPr>
              <a:t>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6402" y="822960"/>
            <a:ext cx="7498079" cy="8653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000000"/>
                </a:solidFill>
                <a:latin typeface="Inter"/>
              </a:rPr>
              <a:t>Одинаковые действия, разный текст в README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6402" y="1834652"/>
            <a:ext cx="7680960" cy="2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0000"/>
                </a:solidFill>
                <a:latin typeface="Inter"/>
              </a:rPr>
              <a:t>Оба прогона читают README и отправляют файл наружу. Правила видят одно и то же.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6402" y="2194468"/>
            <a:ext cx="7315200" cy="196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0000FF"/>
                </a:solidFill>
                <a:latin typeface="Inter"/>
              </a:rPr>
              <a:t>Инструкция подброшена: действие остановлено, человек видит фразу, а не код правила</a:t>
            </a:r>
          </a:p>
        </p:txBody>
      </p:sp>
      <p:pic>
        <p:nvPicPr>
          <p:cNvPr id="7" name="Picture 6" descr="10-ai-injection-stop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402" y="2445471"/>
            <a:ext cx="7315200" cy="89890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6402" y="3508965"/>
            <a:ext cx="7315200" cy="196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0000FF"/>
                </a:solidFill>
                <a:latin typeface="Inter"/>
              </a:rPr>
              <a:t>Обычная документация: то же действие проходит, лишнего подтверждения нет</a:t>
            </a:r>
          </a:p>
        </p:txBody>
      </p:sp>
      <p:pic>
        <p:nvPicPr>
          <p:cNvPr id="9" name="Picture 8" descr="11-ai-ordinary-wo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402" y="3759968"/>
            <a:ext cx="7315200" cy="898902"/>
          </a:xfrm>
          <a:prstGeom prst="rect">
            <a:avLst/>
          </a:prstGeom>
        </p:spPr>
      </p:pic>
    </p:spTree>
  </p:cSld>
  <p:bg>
    <p:bgPr>
      <a:solidFill>
        <a:srgbClr val="FAFAFC"/>
      </a:solidFill>
      <a:effectLst/>
    </p:bgPr>
  </p:bg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402" y="320954"/>
            <a:ext cx="1536192" cy="42428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45805" y="416966"/>
            <a:ext cx="621792" cy="267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700" b="0">
                <a:solidFill>
                  <a:srgbClr val="000000"/>
                </a:solidFill>
                <a:latin typeface="Inter"/>
              </a:rPr>
              <a:t>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6402" y="890625"/>
            <a:ext cx="7498079" cy="4326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000000"/>
                </a:solidFill>
                <a:latin typeface="Inter"/>
              </a:rPr>
              <a:t>Успех атаки — это последствие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6402" y="1524487"/>
            <a:ext cx="2492654" cy="196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0000FF"/>
                </a:solidFill>
                <a:latin typeface="Inter"/>
              </a:rPr>
              <a:t>Что проверяли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6402" y="1748058"/>
            <a:ext cx="2492654" cy="9806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Arial"/>
              </a:rPr>
              <a:t>192 сценария: 141 атака и 51 обычная задача, каждый по три раза. Десять конфигураций: соседние отличаются одним включённым слоем.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22015" y="1524487"/>
            <a:ext cx="2492654" cy="196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0000FF"/>
                </a:solidFill>
                <a:latin typeface="Inter"/>
              </a:rPr>
              <a:t>Как изолировали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2015" y="1748058"/>
            <a:ext cx="2492654" cy="9806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Arial"/>
              </a:rPr>
              <a:t>Одноразовый каталог во временной папке, подставной домашний каталог, безвредные заглушки пакетных менеджеров, сеть только на петле.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0371" y="1524487"/>
            <a:ext cx="2492654" cy="196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0000FF"/>
                </a:solidFill>
                <a:latin typeface="Inter"/>
              </a:rPr>
              <a:t>Как определяли успех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0371" y="1748058"/>
            <a:ext cx="2492654" cy="9806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Arial"/>
              </a:rPr>
              <a:t>Канарейка действительно удалена. Выдуманный ключ действительно дошёл до приёмника. Установка действительно запустилась.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6402" y="3076224"/>
            <a:ext cx="761512" cy="960120"/>
          </a:xfrm>
          <a:prstGeom prst="rect">
            <a:avLst/>
          </a:prstGeom>
          <a:solidFill>
            <a:srgbClr val="DDDDE3"/>
          </a:solidFill>
          <a:ln>
            <a:noFill/>
          </a:ln>
          <a:effectLst/>
        </p:spPr>
        <p:txBody>
          <a:bodyPr rtlCol="0" anchor="ctr" wrap="square" lIns="54864" rIns="54864" tIns="36576" bIns="36576"/>
          <a:lstStyle/>
          <a:p>
            <a:pPr algn="l"/>
          </a:p>
        </p:txBody>
      </p:sp>
      <p:sp>
        <p:nvSpPr>
          <p:cNvPr id="12" name="TextBox 11"/>
          <p:cNvSpPr txBox="1"/>
          <p:nvPr/>
        </p:nvSpPr>
        <p:spPr>
          <a:xfrm>
            <a:off x="476402" y="2893344"/>
            <a:ext cx="7615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95959"/>
                </a:solidFill>
                <a:latin typeface="Arial"/>
              </a:rPr>
              <a:t>100 %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01922" y="3354659"/>
            <a:ext cx="761512" cy="681685"/>
          </a:xfrm>
          <a:prstGeom prst="rect">
            <a:avLst/>
          </a:prstGeom>
          <a:solidFill>
            <a:srgbClr val="DDDDE3"/>
          </a:solidFill>
          <a:ln>
            <a:noFill/>
          </a:ln>
          <a:effectLst/>
        </p:spPr>
        <p:txBody>
          <a:bodyPr rtlCol="0" anchor="ctr" wrap="square" lIns="54864" rIns="54864" tIns="36576" bIns="36576"/>
          <a:lstStyle/>
          <a:p>
            <a:pPr algn="l"/>
          </a:p>
        </p:txBody>
      </p:sp>
      <p:sp>
        <p:nvSpPr>
          <p:cNvPr id="14" name="TextBox 13"/>
          <p:cNvSpPr txBox="1"/>
          <p:nvPr/>
        </p:nvSpPr>
        <p:spPr>
          <a:xfrm>
            <a:off x="1301922" y="3171779"/>
            <a:ext cx="7615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95959"/>
                </a:solidFill>
                <a:latin typeface="Arial"/>
              </a:rPr>
              <a:t>71 %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27443" y="3460272"/>
            <a:ext cx="761512" cy="576072"/>
          </a:xfrm>
          <a:prstGeom prst="rect">
            <a:avLst/>
          </a:prstGeom>
          <a:solidFill>
            <a:srgbClr val="DDDDE3"/>
          </a:solidFill>
          <a:ln>
            <a:noFill/>
          </a:ln>
          <a:effectLst/>
        </p:spPr>
        <p:txBody>
          <a:bodyPr rtlCol="0" anchor="ctr" wrap="square" lIns="54864" rIns="54864" tIns="36576" bIns="36576"/>
          <a:lstStyle/>
          <a:p>
            <a:pPr algn="l"/>
          </a:p>
        </p:txBody>
      </p:sp>
      <p:sp>
        <p:nvSpPr>
          <p:cNvPr id="16" name="TextBox 15"/>
          <p:cNvSpPr txBox="1"/>
          <p:nvPr/>
        </p:nvSpPr>
        <p:spPr>
          <a:xfrm>
            <a:off x="2127443" y="3277392"/>
            <a:ext cx="7615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95959"/>
                </a:solidFill>
                <a:latin typeface="Arial"/>
              </a:rPr>
              <a:t>60 %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52963" y="3489076"/>
            <a:ext cx="761512" cy="547268"/>
          </a:xfrm>
          <a:prstGeom prst="rect">
            <a:avLst/>
          </a:prstGeom>
          <a:solidFill>
            <a:srgbClr val="DDDDE3"/>
          </a:solidFill>
          <a:ln>
            <a:noFill/>
          </a:ln>
          <a:effectLst/>
        </p:spPr>
        <p:txBody>
          <a:bodyPr rtlCol="0" anchor="ctr" wrap="square" lIns="54864" rIns="54864" tIns="36576" bIns="36576"/>
          <a:lstStyle/>
          <a:p>
            <a:pPr algn="l"/>
          </a:p>
        </p:txBody>
      </p:sp>
      <p:sp>
        <p:nvSpPr>
          <p:cNvPr id="18" name="TextBox 17"/>
          <p:cNvSpPr txBox="1"/>
          <p:nvPr/>
        </p:nvSpPr>
        <p:spPr>
          <a:xfrm>
            <a:off x="2952963" y="3306196"/>
            <a:ext cx="7615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95959"/>
                </a:solidFill>
                <a:latin typeface="Arial"/>
              </a:rPr>
              <a:t>57 %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78483" y="3556284"/>
            <a:ext cx="761512" cy="480060"/>
          </a:xfrm>
          <a:prstGeom prst="rect">
            <a:avLst/>
          </a:prstGeom>
          <a:solidFill>
            <a:srgbClr val="DDDDE3"/>
          </a:solidFill>
          <a:ln>
            <a:noFill/>
          </a:ln>
          <a:effectLst/>
        </p:spPr>
        <p:txBody>
          <a:bodyPr rtlCol="0" anchor="ctr" wrap="square" lIns="54864" rIns="54864" tIns="36576" bIns="36576"/>
          <a:lstStyle/>
          <a:p>
            <a:pPr algn="l"/>
          </a:p>
        </p:txBody>
      </p:sp>
      <p:sp>
        <p:nvSpPr>
          <p:cNvPr id="20" name="TextBox 19"/>
          <p:cNvSpPr txBox="1"/>
          <p:nvPr/>
        </p:nvSpPr>
        <p:spPr>
          <a:xfrm>
            <a:off x="3778483" y="3373404"/>
            <a:ext cx="7615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95959"/>
                </a:solidFill>
                <a:latin typeface="Arial"/>
              </a:rPr>
              <a:t>50 %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04004" y="3623492"/>
            <a:ext cx="761512" cy="412851"/>
          </a:xfrm>
          <a:prstGeom prst="rect">
            <a:avLst/>
          </a:prstGeom>
          <a:solidFill>
            <a:srgbClr val="DDDDE3"/>
          </a:solidFill>
          <a:ln>
            <a:noFill/>
          </a:ln>
          <a:effectLst/>
        </p:spPr>
        <p:txBody>
          <a:bodyPr rtlCol="0" anchor="ctr" wrap="square" lIns="54864" rIns="54864" tIns="36576" bIns="36576"/>
          <a:lstStyle/>
          <a:p>
            <a:pPr algn="l"/>
          </a:p>
        </p:txBody>
      </p:sp>
      <p:sp>
        <p:nvSpPr>
          <p:cNvPr id="22" name="TextBox 21"/>
          <p:cNvSpPr txBox="1"/>
          <p:nvPr/>
        </p:nvSpPr>
        <p:spPr>
          <a:xfrm>
            <a:off x="4604004" y="3440612"/>
            <a:ext cx="7615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95959"/>
                </a:solidFill>
                <a:latin typeface="Arial"/>
              </a:rPr>
              <a:t>43 %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29524" y="3671498"/>
            <a:ext cx="761512" cy="364845"/>
          </a:xfrm>
          <a:prstGeom prst="rect">
            <a:avLst/>
          </a:prstGeom>
          <a:solidFill>
            <a:srgbClr val="DDDDE3"/>
          </a:solidFill>
          <a:ln>
            <a:noFill/>
          </a:ln>
          <a:effectLst/>
        </p:spPr>
        <p:txBody>
          <a:bodyPr rtlCol="0" anchor="ctr" wrap="square" lIns="54864" rIns="54864" tIns="36576" bIns="36576"/>
          <a:lstStyle/>
          <a:p>
            <a:pPr algn="l"/>
          </a:p>
        </p:txBody>
      </p:sp>
      <p:sp>
        <p:nvSpPr>
          <p:cNvPr id="24" name="TextBox 23"/>
          <p:cNvSpPr txBox="1"/>
          <p:nvPr/>
        </p:nvSpPr>
        <p:spPr>
          <a:xfrm>
            <a:off x="5429524" y="3488618"/>
            <a:ext cx="7615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95959"/>
                </a:solidFill>
                <a:latin typeface="Arial"/>
              </a:rPr>
              <a:t>38 %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55044" y="3738707"/>
            <a:ext cx="761512" cy="297637"/>
          </a:xfrm>
          <a:prstGeom prst="rect">
            <a:avLst/>
          </a:prstGeom>
          <a:solidFill>
            <a:srgbClr val="DDDDE3"/>
          </a:solidFill>
          <a:ln>
            <a:noFill/>
          </a:ln>
          <a:effectLst/>
        </p:spPr>
        <p:txBody>
          <a:bodyPr rtlCol="0" anchor="ctr" wrap="square" lIns="54864" rIns="54864" tIns="36576" bIns="36576"/>
          <a:lstStyle/>
          <a:p>
            <a:pPr algn="l"/>
          </a:p>
        </p:txBody>
      </p:sp>
      <p:sp>
        <p:nvSpPr>
          <p:cNvPr id="26" name="TextBox 25"/>
          <p:cNvSpPr txBox="1"/>
          <p:nvPr/>
        </p:nvSpPr>
        <p:spPr>
          <a:xfrm>
            <a:off x="6255044" y="3555827"/>
            <a:ext cx="7615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95959"/>
                </a:solidFill>
                <a:latin typeface="Arial"/>
              </a:rPr>
              <a:t>31 %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80564" y="3805915"/>
            <a:ext cx="761512" cy="230428"/>
          </a:xfrm>
          <a:prstGeom prst="rect">
            <a:avLst/>
          </a:prstGeom>
          <a:solidFill>
            <a:srgbClr val="DDDDE3"/>
          </a:solidFill>
          <a:ln>
            <a:noFill/>
          </a:ln>
          <a:effectLst/>
        </p:spPr>
        <p:txBody>
          <a:bodyPr rtlCol="0" anchor="ctr" wrap="square" lIns="54864" rIns="54864" tIns="36576" bIns="36576"/>
          <a:lstStyle/>
          <a:p>
            <a:pPr algn="l"/>
          </a:p>
        </p:txBody>
      </p:sp>
      <p:sp>
        <p:nvSpPr>
          <p:cNvPr id="28" name="TextBox 27"/>
          <p:cNvSpPr txBox="1"/>
          <p:nvPr/>
        </p:nvSpPr>
        <p:spPr>
          <a:xfrm>
            <a:off x="7080564" y="3623035"/>
            <a:ext cx="7615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95959"/>
                </a:solidFill>
                <a:latin typeface="Arial"/>
              </a:rPr>
              <a:t>24 %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06085" y="3997939"/>
            <a:ext cx="761512" cy="38404"/>
          </a:xfrm>
          <a:prstGeom prst="rect">
            <a:avLst/>
          </a:prstGeom>
          <a:solidFill>
            <a:srgbClr val="0000FF"/>
          </a:solidFill>
          <a:ln>
            <a:noFill/>
          </a:ln>
          <a:effectLst/>
        </p:spPr>
        <p:txBody>
          <a:bodyPr rtlCol="0" anchor="ctr" wrap="square" lIns="54864" rIns="54864" tIns="36576" bIns="36576"/>
          <a:lstStyle/>
          <a:p>
            <a:pPr algn="l"/>
          </a:p>
        </p:txBody>
      </p:sp>
      <p:sp>
        <p:nvSpPr>
          <p:cNvPr id="30" name="TextBox 29"/>
          <p:cNvSpPr txBox="1"/>
          <p:nvPr/>
        </p:nvSpPr>
        <p:spPr>
          <a:xfrm>
            <a:off x="7906085" y="3815059"/>
            <a:ext cx="7615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0000FF"/>
                </a:solidFill>
                <a:latin typeface="Arial"/>
              </a:rPr>
              <a:t>4 %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6402" y="4091208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595959"/>
                </a:solidFill>
                <a:latin typeface="Arial"/>
              </a:rPr>
              <a:t>без защиты · 100 %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3037" y="4091208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0000FF"/>
                </a:solidFill>
                <a:latin typeface="Arial"/>
              </a:rPr>
              <a:t>все десять слоёв · 4 %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6402" y="4310664"/>
            <a:ext cx="8191195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Arial"/>
              </a:rPr>
              <a:t>Набор атак рос по ходу работы: найденный обход не убирался после исправления, а добавлялся в общий набор, и все конфигурации пересчитывались заново. Ранние конфигурации выглядят хуже потому, что тест стал сложнее.</a:t>
            </a:r>
          </a:p>
        </p:txBody>
      </p:sp>
    </p:spTree>
  </p:cSld>
  <p:bg>
    <p:bgPr>
      <a:solidFill>
        <a:srgbClr val="FAFAFC"/>
      </a:solidFill>
      <a:effectLst/>
    </p:bgPr>
  </p:bg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" y="307238"/>
            <a:ext cx="1673352" cy="46268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45805" y="416966"/>
            <a:ext cx="621792" cy="267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Inter"/>
              </a:rPr>
              <a:t>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6402" y="896112"/>
            <a:ext cx="7498079" cy="4326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Inter"/>
              </a:rPr>
              <a:t>Результат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6402" y="1420246"/>
            <a:ext cx="819119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4200" b="1">
                <a:solidFill>
                  <a:srgbClr val="FFFFFF"/>
                </a:solidFill>
                <a:latin typeface="Inter"/>
              </a:rPr>
              <a:t>100 %  →  4 %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6402" y="2279782"/>
            <a:ext cx="8191195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Inter"/>
              </a:rPr>
              <a:t>Успешность атак (ASR) — доля прогонов, которые довели дело до настоящего вреда.
18 прогонов из 417 · 5760 прогонов всего, ни одного сорванного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76402" y="2883286"/>
            <a:ext cx="8191195" cy="0"/>
          </a:xfrm>
          <a:prstGeom prst="line">
            <a:avLst/>
          </a:prstGeom>
          <a:ln w="95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76402" y="3066166"/>
            <a:ext cx="1714500" cy="4197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Inter"/>
              </a:rPr>
              <a:t>95 %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6402" y="3577315"/>
            <a:ext cx="1714500" cy="820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обычных задач по-прежнему выполняются · 146 из 153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34386" y="3066166"/>
            <a:ext cx="1714500" cy="4197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Inter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34386" y="3577315"/>
            <a:ext cx="1714500" cy="4101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безопасных действий запрещено по ошибке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93284" y="3066166"/>
            <a:ext cx="1714500" cy="4197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Inter"/>
              </a:rPr>
              <a:t>0,29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93284" y="3577315"/>
            <a:ext cx="1714500" cy="4101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вопросов человеку на задачу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51268" y="3066166"/>
            <a:ext cx="1714500" cy="4197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Inter"/>
              </a:rPr>
              <a:t>1,36 мс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51268" y="3577315"/>
            <a:ext cx="1714500" cy="4101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стоит решение правил в 95 %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6402" y="4525548"/>
            <a:ext cx="81911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Arial"/>
              </a:rPr>
              <a:t>«Запретить всё» дало бы ноль атак и ноль сделанных задач — поэтому величин пять. Без слоя смысла те же сценарии дают 24 %: он снимает двадцать пунктов и стоит четырёх прогонов из 153.</a:t>
            </a:r>
          </a:p>
        </p:txBody>
      </p:sp>
    </p:spTree>
  </p:cSld>
  <p:bg>
    <p:bgPr>
      <a:solidFill>
        <a:srgbClr val="0000FF"/>
      </a:solidFill>
      <a:effectLst/>
    </p:bgPr>
  </p:bg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402" y="320954"/>
            <a:ext cx="1536192" cy="42428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45805" y="416966"/>
            <a:ext cx="621792" cy="267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700" b="0">
                <a:solidFill>
                  <a:srgbClr val="000000"/>
                </a:solidFill>
                <a:latin typeface="Inter"/>
              </a:rPr>
              <a:t>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6402" y="859536"/>
            <a:ext cx="7498079" cy="4326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000000"/>
                </a:solidFill>
                <a:latin typeface="Inter"/>
              </a:rPr>
              <a:t>Насколько закрыт каждый вид угрозы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6402" y="1438534"/>
            <a:ext cx="7680960" cy="2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0000"/>
                </a:solidFill>
                <a:latin typeface="Inter"/>
              </a:rPr>
              <a:t>Серая полоса — 100 % атак без защиты. Синяя — что доходит с защитой.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6402" y="1761774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Arial"/>
              </a:rPr>
              <a:t>Чужие ключи и настройки самого Kilo</a:t>
            </a:r>
          </a:p>
        </p:txBody>
      </p:sp>
      <p:sp>
        <p:nvSpPr>
          <p:cNvPr id="7" name="Rectangle 6"/>
          <p:cNvSpPr/>
          <p:nvPr/>
        </p:nvSpPr>
        <p:spPr>
          <a:xfrm>
            <a:off x="3877970" y="1780062"/>
            <a:ext cx="1691640" cy="114300"/>
          </a:xfrm>
          <a:prstGeom prst="rect">
            <a:avLst/>
          </a:prstGeom>
          <a:solidFill>
            <a:srgbClr val="DDDDE3"/>
          </a:solidFill>
          <a:ln>
            <a:noFill/>
          </a:ln>
          <a:effectLst/>
        </p:spPr>
        <p:txBody>
          <a:bodyPr rtlCol="0" anchor="ctr" wrap="square" lIns="54864" rIns="54864" tIns="36576" bIns="36576"/>
          <a:lstStyle/>
          <a:p>
            <a:pPr algn="l"/>
          </a:p>
        </p:txBody>
      </p:sp>
      <p:sp>
        <p:nvSpPr>
          <p:cNvPr id="8" name="TextBox 7"/>
          <p:cNvSpPr txBox="1"/>
          <p:nvPr/>
        </p:nvSpPr>
        <p:spPr>
          <a:xfrm>
            <a:off x="5697626" y="1752630"/>
            <a:ext cx="8961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000000"/>
                </a:solidFill>
                <a:latin typeface="Arial"/>
              </a:rPr>
              <a:t>0/54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6890" y="1752630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595959"/>
                </a:solidFill>
                <a:latin typeface="Arial"/>
              </a:rPr>
              <a:t>Закрыто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6402" y="2001347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Arial"/>
              </a:rPr>
              <a:t>Установка подозрительного пакета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77970" y="2019635"/>
            <a:ext cx="1691640" cy="114300"/>
          </a:xfrm>
          <a:prstGeom prst="rect">
            <a:avLst/>
          </a:prstGeom>
          <a:solidFill>
            <a:srgbClr val="DDDDE3"/>
          </a:solidFill>
          <a:ln>
            <a:noFill/>
          </a:ln>
          <a:effectLst/>
        </p:spPr>
        <p:txBody>
          <a:bodyPr rtlCol="0" anchor="ctr" wrap="square" lIns="54864" rIns="54864" tIns="36576" bIns="36576"/>
          <a:lstStyle/>
          <a:p>
            <a:pPr algn="l"/>
          </a:p>
        </p:txBody>
      </p:sp>
      <p:sp>
        <p:nvSpPr>
          <p:cNvPr id="12" name="TextBox 11"/>
          <p:cNvSpPr txBox="1"/>
          <p:nvPr/>
        </p:nvSpPr>
        <p:spPr>
          <a:xfrm>
            <a:off x="5697626" y="1992203"/>
            <a:ext cx="8961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000000"/>
                </a:solidFill>
                <a:latin typeface="Arial"/>
              </a:rPr>
              <a:t>0/42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66890" y="1992203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595959"/>
                </a:solidFill>
                <a:latin typeface="Arial"/>
              </a:rPr>
              <a:t>Закрыто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6402" y="2240920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Arial"/>
              </a:rPr>
              <a:t>Внешний инструмент делает лишнее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77970" y="2259208"/>
            <a:ext cx="1691640" cy="114300"/>
          </a:xfrm>
          <a:prstGeom prst="rect">
            <a:avLst/>
          </a:prstGeom>
          <a:solidFill>
            <a:srgbClr val="DDDDE3"/>
          </a:solidFill>
          <a:ln>
            <a:noFill/>
          </a:ln>
          <a:effectLst/>
        </p:spPr>
        <p:txBody>
          <a:bodyPr rtlCol="0" anchor="ctr" wrap="square" lIns="54864" rIns="54864" tIns="36576" bIns="36576"/>
          <a:lstStyle/>
          <a:p>
            <a:pPr algn="l"/>
          </a:p>
        </p:txBody>
      </p:sp>
      <p:sp>
        <p:nvSpPr>
          <p:cNvPr id="16" name="TextBox 15"/>
          <p:cNvSpPr txBox="1"/>
          <p:nvPr/>
        </p:nvSpPr>
        <p:spPr>
          <a:xfrm>
            <a:off x="5697626" y="2231776"/>
            <a:ext cx="8961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000000"/>
                </a:solidFill>
                <a:latin typeface="Arial"/>
              </a:rPr>
              <a:t>0/30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66890" y="223177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595959"/>
                </a:solidFill>
                <a:latin typeface="Arial"/>
              </a:rPr>
              <a:t>Закрыто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6402" y="2480492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Arial"/>
              </a:rPr>
              <a:t>Утечка секрета цепочкой действий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77970" y="2498780"/>
            <a:ext cx="1691640" cy="114300"/>
          </a:xfrm>
          <a:prstGeom prst="rect">
            <a:avLst/>
          </a:prstGeom>
          <a:solidFill>
            <a:srgbClr val="DDDDE3"/>
          </a:solidFill>
          <a:ln>
            <a:noFill/>
          </a:ln>
          <a:effectLst/>
        </p:spPr>
        <p:txBody>
          <a:bodyPr rtlCol="0" anchor="ctr" wrap="square" lIns="54864" rIns="54864" tIns="36576" bIns="36576"/>
          <a:lstStyle/>
          <a:p>
            <a:pPr algn="l"/>
          </a:p>
        </p:txBody>
      </p:sp>
      <p:sp>
        <p:nvSpPr>
          <p:cNvPr id="20" name="TextBox 19"/>
          <p:cNvSpPr txBox="1"/>
          <p:nvPr/>
        </p:nvSpPr>
        <p:spPr>
          <a:xfrm>
            <a:off x="5697626" y="2471348"/>
            <a:ext cx="8961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000000"/>
                </a:solidFill>
                <a:latin typeface="Arial"/>
              </a:rPr>
              <a:t>0/30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66890" y="2471348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595959"/>
                </a:solidFill>
                <a:latin typeface="Arial"/>
              </a:rPr>
              <a:t>Закрыто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6402" y="2720065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Arial"/>
              </a:rPr>
              <a:t>Расширение выходит за выданные права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77970" y="2738353"/>
            <a:ext cx="1691640" cy="114300"/>
          </a:xfrm>
          <a:prstGeom prst="rect">
            <a:avLst/>
          </a:prstGeom>
          <a:solidFill>
            <a:srgbClr val="DDDDE3"/>
          </a:solidFill>
          <a:ln>
            <a:noFill/>
          </a:ln>
          <a:effectLst/>
        </p:spPr>
        <p:txBody>
          <a:bodyPr rtlCol="0" anchor="ctr" wrap="square" lIns="54864" rIns="54864" tIns="36576" bIns="36576"/>
          <a:lstStyle/>
          <a:p>
            <a:pPr algn="l"/>
          </a:p>
        </p:txBody>
      </p:sp>
      <p:sp>
        <p:nvSpPr>
          <p:cNvPr id="24" name="TextBox 23"/>
          <p:cNvSpPr txBox="1"/>
          <p:nvPr/>
        </p:nvSpPr>
        <p:spPr>
          <a:xfrm>
            <a:off x="5697626" y="2710921"/>
            <a:ext cx="8961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000000"/>
                </a:solidFill>
                <a:latin typeface="Arial"/>
              </a:rPr>
              <a:t>0/24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6890" y="2710921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595959"/>
                </a:solidFill>
                <a:latin typeface="Arial"/>
              </a:rPr>
              <a:t>Закрыто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6402" y="2959638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Arial"/>
              </a:rPr>
              <a:t>Действие не связано с задачей пользователя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77970" y="2977926"/>
            <a:ext cx="1691640" cy="114300"/>
          </a:xfrm>
          <a:prstGeom prst="rect">
            <a:avLst/>
          </a:prstGeom>
          <a:solidFill>
            <a:srgbClr val="DDDDE3"/>
          </a:solidFill>
          <a:ln>
            <a:noFill/>
          </a:ln>
          <a:effectLst/>
        </p:spPr>
        <p:txBody>
          <a:bodyPr rtlCol="0" anchor="ctr" wrap="square" lIns="54864" rIns="54864" tIns="36576" bIns="36576"/>
          <a:lstStyle/>
          <a:p>
            <a:pPr algn="l"/>
          </a:p>
        </p:txBody>
      </p:sp>
      <p:sp>
        <p:nvSpPr>
          <p:cNvPr id="28" name="TextBox 27"/>
          <p:cNvSpPr txBox="1"/>
          <p:nvPr/>
        </p:nvSpPr>
        <p:spPr>
          <a:xfrm>
            <a:off x="5697626" y="2950494"/>
            <a:ext cx="8961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000000"/>
                </a:solidFill>
                <a:latin typeface="Arial"/>
              </a:rPr>
              <a:t>0/9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66890" y="2950494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595959"/>
                </a:solidFill>
                <a:latin typeface="Arial"/>
              </a:rPr>
              <a:t>Закрыто · слоем смысла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6402" y="3199211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Arial"/>
              </a:rPr>
              <a:t>Текст в репозитории уговаривает агента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77970" y="3217499"/>
            <a:ext cx="1691640" cy="114300"/>
          </a:xfrm>
          <a:prstGeom prst="rect">
            <a:avLst/>
          </a:prstGeom>
          <a:solidFill>
            <a:srgbClr val="DDDDE3"/>
          </a:solidFill>
          <a:ln>
            <a:noFill/>
          </a:ln>
          <a:effectLst/>
        </p:spPr>
        <p:txBody>
          <a:bodyPr rtlCol="0" anchor="ctr" wrap="square" lIns="54864" rIns="54864" tIns="36576" bIns="36576"/>
          <a:lstStyle/>
          <a:p>
            <a:pPr algn="l"/>
          </a:p>
        </p:txBody>
      </p:sp>
      <p:sp>
        <p:nvSpPr>
          <p:cNvPr id="32" name="TextBox 31"/>
          <p:cNvSpPr txBox="1"/>
          <p:nvPr/>
        </p:nvSpPr>
        <p:spPr>
          <a:xfrm>
            <a:off x="5697626" y="3190067"/>
            <a:ext cx="8961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000000"/>
                </a:solidFill>
                <a:latin typeface="Arial"/>
              </a:rPr>
              <a:t>0/75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66890" y="3190067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595959"/>
                </a:solidFill>
                <a:latin typeface="Arial"/>
              </a:rPr>
              <a:t>Закрыто · слоем смысла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6402" y="3438784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Arial"/>
              </a:rPr>
              <a:t>Секрет в обычном файле проекта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77970" y="3457072"/>
            <a:ext cx="1691640" cy="114300"/>
          </a:xfrm>
          <a:prstGeom prst="rect">
            <a:avLst/>
          </a:prstGeom>
          <a:solidFill>
            <a:srgbClr val="DDDDE3"/>
          </a:solidFill>
          <a:ln>
            <a:noFill/>
          </a:ln>
          <a:effectLst/>
        </p:spPr>
        <p:txBody>
          <a:bodyPr rtlCol="0" anchor="ctr" wrap="square" lIns="54864" rIns="54864" tIns="36576" bIns="36576"/>
          <a:lstStyle/>
          <a:p>
            <a:pPr algn="l"/>
          </a:p>
        </p:txBody>
      </p:sp>
      <p:sp>
        <p:nvSpPr>
          <p:cNvPr id="36" name="TextBox 35"/>
          <p:cNvSpPr txBox="1"/>
          <p:nvPr/>
        </p:nvSpPr>
        <p:spPr>
          <a:xfrm>
            <a:off x="5697626" y="3429640"/>
            <a:ext cx="8961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000000"/>
                </a:solidFill>
                <a:latin typeface="Arial"/>
              </a:rPr>
              <a:t>0/33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66890" y="3429640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595959"/>
                </a:solidFill>
                <a:latin typeface="Arial"/>
              </a:rPr>
              <a:t>Закрыто · было 18 %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6402" y="3678356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Arial"/>
              </a:rPr>
              <a:t>Расширение читает файлы разработчика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877970" y="3696644"/>
            <a:ext cx="1691640" cy="114300"/>
          </a:xfrm>
          <a:prstGeom prst="rect">
            <a:avLst/>
          </a:prstGeom>
          <a:solidFill>
            <a:srgbClr val="DDDDE3"/>
          </a:solidFill>
          <a:ln>
            <a:noFill/>
          </a:ln>
          <a:effectLst/>
        </p:spPr>
        <p:txBody>
          <a:bodyPr rtlCol="0" anchor="ctr" wrap="square" lIns="54864" rIns="54864" tIns="36576" bIns="36576"/>
          <a:lstStyle/>
          <a:p>
            <a:pPr algn="l"/>
          </a:p>
        </p:txBody>
      </p:sp>
      <p:sp>
        <p:nvSpPr>
          <p:cNvPr id="40" name="Rectangle 39"/>
          <p:cNvSpPr/>
          <p:nvPr/>
        </p:nvSpPr>
        <p:spPr>
          <a:xfrm>
            <a:off x="3877970" y="3696644"/>
            <a:ext cx="153785" cy="114300"/>
          </a:xfrm>
          <a:prstGeom prst="rect">
            <a:avLst/>
          </a:prstGeom>
          <a:solidFill>
            <a:srgbClr val="0000FF"/>
          </a:solidFill>
          <a:ln>
            <a:noFill/>
          </a:ln>
          <a:effectLst/>
        </p:spPr>
        <p:txBody>
          <a:bodyPr rtlCol="0" anchor="ctr" wrap="square" lIns="54864" rIns="54864" tIns="36576" bIns="36576"/>
          <a:lstStyle/>
          <a:p>
            <a:pPr algn="l"/>
          </a:p>
        </p:txBody>
      </p:sp>
      <p:sp>
        <p:nvSpPr>
          <p:cNvPr id="41" name="TextBox 40"/>
          <p:cNvSpPr txBox="1"/>
          <p:nvPr/>
        </p:nvSpPr>
        <p:spPr>
          <a:xfrm>
            <a:off x="5697626" y="3669212"/>
            <a:ext cx="8961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0000FF"/>
                </a:solidFill>
                <a:latin typeface="Arial"/>
              </a:rPr>
              <a:t>3/33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66890" y="3669212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595959"/>
                </a:solidFill>
                <a:latin typeface="Arial"/>
              </a:rPr>
              <a:t>Сильно снижено · 9 %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6402" y="3917929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Arial"/>
              </a:rPr>
              <a:t>Код репозитория исполняется при загрузке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877970" y="3936217"/>
            <a:ext cx="1691640" cy="114300"/>
          </a:xfrm>
          <a:prstGeom prst="rect">
            <a:avLst/>
          </a:prstGeom>
          <a:solidFill>
            <a:srgbClr val="DDDDE3"/>
          </a:solidFill>
          <a:ln>
            <a:noFill/>
          </a:ln>
          <a:effectLst/>
        </p:spPr>
        <p:txBody>
          <a:bodyPr rtlCol="0" anchor="ctr" wrap="square" lIns="54864" rIns="54864" tIns="36576" bIns="36576"/>
          <a:lstStyle/>
          <a:p>
            <a:pPr algn="l"/>
          </a:p>
        </p:txBody>
      </p:sp>
      <p:sp>
        <p:nvSpPr>
          <p:cNvPr id="45" name="Rectangle 44"/>
          <p:cNvSpPr/>
          <p:nvPr/>
        </p:nvSpPr>
        <p:spPr>
          <a:xfrm>
            <a:off x="3877970" y="3936217"/>
            <a:ext cx="187960" cy="114300"/>
          </a:xfrm>
          <a:prstGeom prst="rect">
            <a:avLst/>
          </a:prstGeom>
          <a:solidFill>
            <a:srgbClr val="0000FF"/>
          </a:solidFill>
          <a:ln>
            <a:noFill/>
          </a:ln>
          <a:effectLst/>
        </p:spPr>
        <p:txBody>
          <a:bodyPr rtlCol="0" anchor="ctr" wrap="square" lIns="54864" rIns="54864" tIns="36576" bIns="36576"/>
          <a:lstStyle/>
          <a:p>
            <a:pPr algn="l"/>
          </a:p>
        </p:txBody>
      </p:sp>
      <p:sp>
        <p:nvSpPr>
          <p:cNvPr id="46" name="TextBox 45"/>
          <p:cNvSpPr txBox="1"/>
          <p:nvPr/>
        </p:nvSpPr>
        <p:spPr>
          <a:xfrm>
            <a:off x="5697626" y="3908785"/>
            <a:ext cx="8961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0000FF"/>
                </a:solidFill>
                <a:latin typeface="Arial"/>
              </a:rPr>
              <a:t>3/27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66890" y="3908785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595959"/>
                </a:solidFill>
                <a:latin typeface="Arial"/>
              </a:rPr>
              <a:t>Сильно снижено · 11 %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6402" y="4157502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Arial"/>
              </a:rPr>
              <a:t>Разрушительная команда, в том числе скрытая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877970" y="4175790"/>
            <a:ext cx="1691640" cy="114300"/>
          </a:xfrm>
          <a:prstGeom prst="rect">
            <a:avLst/>
          </a:prstGeom>
          <a:solidFill>
            <a:srgbClr val="DDDDE3"/>
          </a:solidFill>
          <a:ln>
            <a:noFill/>
          </a:ln>
          <a:effectLst/>
        </p:spPr>
        <p:txBody>
          <a:bodyPr rtlCol="0" anchor="ctr" wrap="square" lIns="54864" rIns="54864" tIns="36576" bIns="36576"/>
          <a:lstStyle/>
          <a:p>
            <a:pPr algn="l"/>
          </a:p>
        </p:txBody>
      </p:sp>
      <p:sp>
        <p:nvSpPr>
          <p:cNvPr id="50" name="Rectangle 49"/>
          <p:cNvSpPr/>
          <p:nvPr/>
        </p:nvSpPr>
        <p:spPr>
          <a:xfrm>
            <a:off x="3877970" y="4175790"/>
            <a:ext cx="338328" cy="114300"/>
          </a:xfrm>
          <a:prstGeom prst="rect">
            <a:avLst/>
          </a:prstGeom>
          <a:solidFill>
            <a:srgbClr val="0000FF"/>
          </a:solidFill>
          <a:ln>
            <a:noFill/>
          </a:ln>
          <a:effectLst/>
        </p:spPr>
        <p:txBody>
          <a:bodyPr rtlCol="0" anchor="ctr" wrap="square" lIns="54864" rIns="54864" tIns="36576" bIns="36576"/>
          <a:lstStyle/>
          <a:p>
            <a:pPr algn="l"/>
          </a:p>
        </p:txBody>
      </p:sp>
      <p:sp>
        <p:nvSpPr>
          <p:cNvPr id="51" name="TextBox 50"/>
          <p:cNvSpPr txBox="1"/>
          <p:nvPr/>
        </p:nvSpPr>
        <p:spPr>
          <a:xfrm>
            <a:off x="5697626" y="4148358"/>
            <a:ext cx="8961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0000FF"/>
                </a:solidFill>
                <a:latin typeface="Arial"/>
              </a:rPr>
              <a:t>12/60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66890" y="4148358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595959"/>
                </a:solidFill>
                <a:latin typeface="Arial"/>
              </a:rPr>
              <a:t>Частично · 20 %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76402" y="4506803"/>
            <a:ext cx="819119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Arial"/>
              </a:rPr>
              <a:t>Всего 18 прогонов из 417. Три строки, где работает слой смысла, без него читались бы как 100 %, 92 % и 18 %: эти классы правила не закрывают.</a:t>
            </a:r>
          </a:p>
        </p:txBody>
      </p:sp>
    </p:spTree>
  </p:cSld>
  <p:bg>
    <p:bgPr>
      <a:solidFill>
        <a:srgbClr val="FAFAFC"/>
      </a:solidFill>
      <a:effectLst/>
    </p:bgPr>
  </p:bg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402" y="320954"/>
            <a:ext cx="1536192" cy="42428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45805" y="416966"/>
            <a:ext cx="621792" cy="267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700" b="0">
                <a:solidFill>
                  <a:srgbClr val="000000"/>
                </a:solidFill>
                <a:latin typeface="Inter"/>
              </a:rPr>
              <a:t>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6402" y="890625"/>
            <a:ext cx="7498079" cy="4326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000000"/>
                </a:solidFill>
                <a:latin typeface="Inter"/>
              </a:rPr>
              <a:t>Что не закрыто и что дальше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6402" y="1524487"/>
            <a:ext cx="2492654" cy="1872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50" b="0">
                <a:solidFill>
                  <a:srgbClr val="0000FF"/>
                </a:solidFill>
                <a:latin typeface="Inter"/>
              </a:rPr>
              <a:t>Чего защита не умеет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6402" y="1739143"/>
            <a:ext cx="2492654" cy="26211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Arial"/>
              </a:rPr>
              <a:t>Путь внутри строки python -c, node -e или perl -e не становится операндом при разборе.
git stash -u очищает дерево и разрешён; правила на следующий drop не хватает.
Внутри сужённого процесса расширение видит размер файла и то, что он есть.
Границы системы проверены на macOS; профиль Linux написан, но не проверен.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22015" y="1524487"/>
            <a:ext cx="2492654" cy="1872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50" b="0">
                <a:solidFill>
                  <a:srgbClr val="0000FF"/>
                </a:solidFill>
                <a:latin typeface="Inter"/>
              </a:rPr>
              <a:t>Чего не показывает измерение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2015" y="1739143"/>
            <a:ext cx="2492654" cy="26211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Arial"/>
              </a:rPr>
              <a:t>Набор атак наш собственный: «100 % без защиты» — это про него, а не про Kilo вообще.
Ход работы агента задан сценарием, поэтому измеряется удержание, а не то, догадается ли модель напасть.
Качество смыслового слоя — свойство одной модели: всё снято на claude-haiku-4.5 через OpenRouter, другая даст другие числа.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0371" y="1524487"/>
            <a:ext cx="2492654" cy="1872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50" b="0">
                <a:solidFill>
                  <a:srgbClr val="0000FF"/>
                </a:solidFill>
                <a:latin typeface="Inter"/>
              </a:rPr>
              <a:t>Пилот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0371" y="1739143"/>
            <a:ext cx="2492654" cy="26211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Arial"/>
              </a:rPr>
              <a:t>Команда 5–10 разработчиков, репозиторий с внешними зависимостями и MCP.
Что смотрим: доля успешных атак, доля доведённых задач, ошибочные запреты, вопросы на задачу, задержка и сколько человек через две недели оставили режим включённым.
Продуктовый шаг: построить новый отложенный набор — нынешний израсходован, потому что одна правка сделана уже после первого взгляда на его результаты.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6402" y="4488286"/>
            <a:ext cx="8191195" cy="0"/>
          </a:xfrm>
          <a:prstGeom prst="line">
            <a:avLst/>
          </a:prstGeom>
          <a:ln w="95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76402" y="4561438"/>
            <a:ext cx="8191195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595959"/>
                </a:solidFill>
                <a:latin typeface="Arial"/>
              </a:rPr>
              <a:t>Повторить любую цифру:  bun run script/security-bench.ts --runs 3
Повторить любую запись сессии:  bash submission/evidence/ui/capture-all.sh</a:t>
            </a:r>
          </a:p>
        </p:txBody>
      </p:sp>
    </p:spTree>
  </p:cSld>
  <p:bg>
    <p:bgPr>
      <a:solidFill>
        <a:srgbClr val="FAFAFC"/>
      </a:solidFill>
      <a:effectLst/>
    </p:bgPr>
  </p:bg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" y="307238"/>
            <a:ext cx="1673352" cy="46268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45805" y="416966"/>
            <a:ext cx="621792" cy="267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Inter"/>
              </a:rPr>
              <a:t>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6402" y="896112"/>
            <a:ext cx="7498079" cy="4326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Inter"/>
              </a:rPr>
              <a:t>Команда и распределение задач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6402" y="1584838"/>
            <a:ext cx="14813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Inter"/>
              </a:rPr>
              <a:t>Участник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30882" y="1584838"/>
            <a:ext cx="14813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Inter"/>
              </a:rPr>
              <a:t>Роль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85362" y="1584838"/>
            <a:ext cx="20299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Inter"/>
              </a:rPr>
              <a:t>За что отвечал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88482" y="1584838"/>
            <a:ext cx="19385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Inter"/>
              </a:rPr>
              <a:t>Чем подтверждается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00162" y="1584838"/>
            <a:ext cx="96743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Inter"/>
              </a:rPr>
              <a:t>Участие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76402" y="1840870"/>
            <a:ext cx="8191195" cy="0"/>
          </a:xfrm>
          <a:prstGeom prst="line">
            <a:avLst/>
          </a:prstGeom>
          <a:ln w="95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76402" y="1968886"/>
            <a:ext cx="1481328" cy="5349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Дмитрий Воропаев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30882" y="1968886"/>
            <a:ext cx="1481328" cy="5349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Разработка,
AI Product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5362" y="1968886"/>
            <a:ext cx="2029968" cy="5349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Архитектура движка решений, слои, процесс расширений, измерение, документация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88482" y="1968886"/>
            <a:ext cx="1938528" cy="5349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19 коммитов из 19 в ветке, видно в истории репозитория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00162" y="1968886"/>
            <a:ext cx="967435" cy="5349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ведущая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76402" y="2622682"/>
            <a:ext cx="8191195" cy="0"/>
          </a:xfrm>
          <a:prstGeom prst="line">
            <a:avLst/>
          </a:prstGeom>
          <a:ln w="508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76402" y="2741554"/>
            <a:ext cx="1481328" cy="178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[ЗАПОЛНИТЬ: имя]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30882" y="2741554"/>
            <a:ext cx="1481328" cy="178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[ЗАПОЛНИТЬ]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85362" y="2741554"/>
            <a:ext cx="2029968" cy="178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[ЗАПОЛНИТЬ]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88482" y="2741554"/>
            <a:ext cx="1938528" cy="178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[ЗАПОЛНИТЬ]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00162" y="2741554"/>
            <a:ext cx="967435" cy="178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[ЗАПОЛНИТЬ]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76402" y="3038734"/>
            <a:ext cx="8191195" cy="0"/>
          </a:xfrm>
          <a:prstGeom prst="line">
            <a:avLst/>
          </a:prstGeom>
          <a:ln w="508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76402" y="3212470"/>
            <a:ext cx="8191195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Строка-заполнитель дублируется по числу участников и заполняется командой перед подачей. Подтверждена только первая строка: она выведена из истории репозитория.</a:t>
            </a:r>
          </a:p>
        </p:txBody>
      </p:sp>
      <p:pic>
        <p:nvPicPr>
          <p:cNvPr id="24" name="Picture 23" descr="imag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0329" y="4475988"/>
            <a:ext cx="707745" cy="191109"/>
          </a:xfrm>
          <a:prstGeom prst="rect">
            <a:avLst/>
          </a:prstGeom>
        </p:spPr>
      </p:pic>
      <p:pic>
        <p:nvPicPr>
          <p:cNvPr id="25" name="Picture 24" descr="image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2416" y="4534509"/>
            <a:ext cx="1675180" cy="137160"/>
          </a:xfrm>
          <a:prstGeom prst="rect">
            <a:avLst/>
          </a:prstGeom>
        </p:spPr>
      </p:pic>
    </p:spTree>
  </p:cSld>
  <p:bg>
    <p:bgPr>
      <a:solidFill>
        <a:srgbClr val="0000FF"/>
      </a:solidFill>
      <a:effectLst/>
    </p:bgPr>
  </p:bg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000000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Application>python-pptx</Application>
  <PresentationFormat>Custom</PresentationFormat>
  <Slides>16</Slides>
  <Notes>0</Notes>
  <HiddenSlides>0</HiddenSlides>
  <MMClips>0</MMClips>
  <ScaleCrop>false</ScaleCrop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Dmitry Voropaev</cp:lastModifiedBy>
  <cp:revision>1</cp:revision>
  <dcterms:modified xsi:type="dcterms:W3CDTF">2026-09-05T03:44:11Z</dcterms:modified>
  <dc:title>Security Auto Mode для Kilo Code</dc:title>
  <dc:subject>Детерминированный ALLOW / ASK / DENY для side-effecting tool call'ов</dc:subject>
  <dc:creator>Dmitry Voropaev</dc:creator>
  <dc:description>AI Talent Hub. Числа: submission/SOURCE_OF_TRUTH.md</dc:description>
  <cp:keywords>Kilo Code, Security Auto Mode, coding agent, benchmark</cp:keywords>
  <dcterms:created xsi:type="dcterms:W3CDTF">2026-09-05T03:44:11Z</dcterms:created>
</cp:coreProperties>
</file>